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26679" y="4572000"/>
            <a:ext cx="201168" cy="59436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47304" y="4114800"/>
            <a:ext cx="201168" cy="105156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67928" y="3611880"/>
            <a:ext cx="201168" cy="1554480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8552" y="4023360"/>
            <a:ext cx="201168" cy="114300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09176" y="3017520"/>
            <a:ext cx="201168" cy="2148840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29800" y="3474720"/>
            <a:ext cx="201168" cy="169164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50424" y="2514600"/>
            <a:ext cx="201168" cy="2651760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71048" y="3200400"/>
            <a:ext cx="201168" cy="196596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35240" y="685800"/>
            <a:ext cx="3154680" cy="3154680"/>
          </a:xfrm>
          <a:prstGeom prst="ellipse">
            <a:avLst/>
          </a:prstGeom>
          <a:noFill/>
          <a:ln w="2032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19288" y="1069848"/>
            <a:ext cx="2386584" cy="2386584"/>
          </a:xfrm>
          <a:prstGeom prst="ellipse">
            <a:avLst/>
          </a:prstGeom>
          <a:noFill/>
          <a:ln w="2032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94192" y="1444752"/>
            <a:ext cx="1636776" cy="1636776"/>
          </a:xfrm>
          <a:prstGeom prst="ellipse">
            <a:avLst/>
          </a:prstGeom>
          <a:noFill/>
          <a:ln w="20320">
            <a:solidFill>
              <a:srgbClr val="00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749808"/>
            <a:ext cx="67665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00E1C3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417320"/>
            <a:ext cx="658368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3500" b="1" i="0">
                <a:solidFill>
                  <a:srgbClr val="F6F9FF"/>
                </a:solidFill>
                <a:latin typeface="Aptos"/>
              </a:defRPr>
            </a:pPr>
            <a:r>
              <a:t>VIDEO GAME SALES</a:t>
            </a:r>
            <a:br/>
            <a: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6629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200" b="1" i="0">
                <a:solidFill>
                  <a:srgbClr val="9D70FF"/>
                </a:solidFill>
                <a:latin typeface="Aptos"/>
              </a:defRPr>
            </a:pPr>
            <a:r>
              <a:t>&amp; GENRE / PLATFORM</a:t>
            </a:r>
            <a:br/>
            <a:r>
              <a:t>SUCCESS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2976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700" b="0" i="0">
                <a:solidFill>
                  <a:srgbClr val="A9B6CD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956048"/>
            <a:ext cx="4297680" cy="16459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193792"/>
            <a:ext cx="429768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6F9FF"/>
                </a:solidFill>
                <a:latin typeface="Aptos"/>
              </a:defRPr>
            </a:pPr>
            <a:r>
              <a:t>Presented by: Your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59552"/>
            <a:ext cx="51206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Department / College: 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925312"/>
            <a:ext cx="44805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900" b="1" i="0">
                <a:solidFill>
                  <a:srgbClr val="00E1C3"/>
                </a:solidFill>
                <a:latin typeface="Aptos"/>
              </a:defRPr>
            </a:pPr>
            <a:r>
              <a:t>DATA  →  INSIGHTS  → 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01  / 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Why analyze video game sales?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401568" cy="224028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93392"/>
            <a:ext cx="50292" cy="1911096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993392"/>
            <a:ext cx="29260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304288"/>
            <a:ext cx="292608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A data-rich industry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779776"/>
            <a:ext cx="2926080" cy="1197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Games differ by genre, platform, publisher, region, and release period.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01568" cy="224028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993392"/>
            <a:ext cx="50292" cy="1911096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993392"/>
            <a:ext cx="29260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9D70FF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04288"/>
            <a:ext cx="292608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Find useful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779776"/>
            <a:ext cx="2926080" cy="1197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Historical sales data can show which categories performed strongly.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28800"/>
            <a:ext cx="3401568" cy="224028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993392"/>
            <a:ext cx="50292" cy="1911096"/>
          </a:xfrm>
          <a:prstGeom prst="rect">
            <a:avLst/>
          </a:prstGeom>
          <a:solidFill>
            <a:srgbClr val="FFC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993392"/>
            <a:ext cx="29260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FFCB5B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304288"/>
            <a:ext cx="292608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Analyze and estimate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779776"/>
            <a:ext cx="2926080" cy="1197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Use EDA and a classification model to explore sales-success categories.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00E1C3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65192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000" b="1" i="0">
                <a:solidFill>
                  <a:srgbClr val="F6F9FF"/>
                </a:solidFill>
                <a:latin typeface="Aptos"/>
              </a:defRPr>
            </a:pPr>
            <a:r>
              <a:t>The project converts raw video game sales records into understandable trends and a testable prediction workflow.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02  / 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The problem the project aims to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83080"/>
            <a:ext cx="10561320" cy="146304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743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00E1C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97840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000" b="1" i="0">
                <a:solidFill>
                  <a:srgbClr val="F6F9FF"/>
                </a:solidFill>
                <a:latin typeface="Aptos"/>
              </a:defRPr>
            </a:pPr>
            <a:r>
              <a:t>It is difficult to compare game performance across many genres and platforms without systematically analyzing historical sales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3337560" cy="1508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3822191"/>
            <a:ext cx="50292" cy="1179576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822191"/>
            <a:ext cx="286207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QUESTION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133087"/>
            <a:ext cx="286207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Genre 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08576"/>
            <a:ext cx="2862072" cy="466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Which genres are associated with higher sales?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3657600"/>
            <a:ext cx="3337560" cy="1508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822191"/>
            <a:ext cx="50292" cy="1179576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3822191"/>
            <a:ext cx="286207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9D70FF"/>
                </a:solidFill>
                <a:latin typeface="Aptos"/>
              </a:defRPr>
            </a:pPr>
            <a:r>
              <a:t>QUESTION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4133087"/>
            <a:ext cx="286207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Platform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4608576"/>
            <a:ext cx="2862072" cy="466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How do recorded sales compare across platforms?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3657600"/>
            <a:ext cx="3337560" cy="1508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3822191"/>
            <a:ext cx="50292" cy="1179576"/>
          </a:xfrm>
          <a:prstGeom prst="rect">
            <a:avLst/>
          </a:prstGeom>
          <a:solidFill>
            <a:srgbClr val="FFC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3822191"/>
            <a:ext cx="286207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FFCB5B"/>
                </a:solidFill>
                <a:latin typeface="Aptos"/>
              </a:defRPr>
            </a:pPr>
            <a:r>
              <a:t>QUESTION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133087"/>
            <a:ext cx="286207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Sales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4608576"/>
            <a:ext cx="2862072" cy="466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Can a model classify games into high / low sales?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03  /  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What the project will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00E1C3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57150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6F9FF"/>
                </a:solidFill>
                <a:latin typeface="Aptos"/>
              </a:defRPr>
            </a:pPr>
            <a:r>
              <a:t>•  Inspect and clean the selected video game sales dataset.</a:t>
            </a:r>
          </a:p>
          <a:p>
            <a:pPr>
              <a:spcAft>
                <a:spcPts val="1000"/>
              </a:spcAft>
              <a:defRPr sz="1600">
                <a:solidFill>
                  <a:srgbClr val="F6F9FF"/>
                </a:solidFill>
                <a:latin typeface="Aptos"/>
              </a:defRPr>
            </a:pPr>
            <a:r>
              <a:t>•  Compare sales by genre, platform, release year, and region.</a:t>
            </a:r>
          </a:p>
          <a:p>
            <a:pPr>
              <a:spcAft>
                <a:spcPts val="1000"/>
              </a:spcAft>
              <a:defRPr sz="1600">
                <a:solidFill>
                  <a:srgbClr val="F6F9FF"/>
                </a:solidFill>
                <a:latin typeface="Aptos"/>
              </a:defRPr>
            </a:pPr>
            <a:r>
              <a:t>•  Visualize the main trends using clear charts.</a:t>
            </a:r>
          </a:p>
          <a:p>
            <a:pPr>
              <a:spcAft>
                <a:spcPts val="1000"/>
              </a:spcAft>
              <a:defRPr sz="1600">
                <a:solidFill>
                  <a:srgbClr val="F6F9FF"/>
                </a:solidFill>
                <a:latin typeface="Aptos"/>
              </a:defRPr>
            </a:pPr>
            <a:r>
              <a:t>•  Build a baseline classifier for high-sales vs low-sales categories.</a:t>
            </a:r>
          </a:p>
          <a:p>
            <a:pPr>
              <a:spcAft>
                <a:spcPts val="1000"/>
              </a:spcAft>
              <a:defRPr sz="1600">
                <a:solidFill>
                  <a:srgbClr val="F6F9FF"/>
                </a:solidFill>
                <a:latin typeface="Aptos"/>
              </a:defRPr>
            </a:pPr>
            <a:r>
              <a:t>•  Evaluate model performance using suitable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783080"/>
            <a:ext cx="4343400" cy="361188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057400"/>
            <a:ext cx="22860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9D70FF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468880"/>
            <a:ext cx="11887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7BDE99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761488"/>
            <a:ext cx="35661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0" i="0">
                <a:solidFill>
                  <a:srgbClr val="F6F9FF"/>
                </a:solidFill>
                <a:latin typeface="Aptos"/>
              </a:defRPr>
            </a:pPr>
            <a:r>
              <a:t>Historical sales analysis</a:t>
            </a:r>
            <a:br/>
            <a:r>
              <a:t>Genre and platform comparison</a:t>
            </a:r>
            <a:br/>
            <a:r>
              <a:t>Classification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069080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FCB5B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370832"/>
            <a:ext cx="35661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300" b="0" i="0">
                <a:solidFill>
                  <a:srgbClr val="A9B6CD"/>
                </a:solidFill>
                <a:latin typeface="Aptos"/>
              </a:defRPr>
            </a:pPr>
            <a:r>
              <a:t>Guaranteed future sales</a:t>
            </a:r>
            <a:br/>
            <a:r>
              <a:t>Real-time market forecasting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04  /  Dataset &amp;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Proposed source: a public Video Game Sales dataset, e.g. a Kaggle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6537960" cy="416052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84248"/>
            <a:ext cx="18288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00E1C3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386584"/>
            <a:ext cx="6080760" cy="384048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404872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04872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Game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43784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43784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Console / PC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3264408"/>
            <a:ext cx="6080760" cy="384048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282696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Genre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82696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Game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21608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721608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Release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142232"/>
            <a:ext cx="6080760" cy="384048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160520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Publisher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160520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Publishing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599431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NA / EU / JP / Other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99431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Regional 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" y="5020056"/>
            <a:ext cx="6080760" cy="384048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038344"/>
            <a:ext cx="242316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1" i="0">
                <a:solidFill>
                  <a:srgbClr val="F6F9FF"/>
                </a:solidFill>
                <a:latin typeface="Aptos"/>
              </a:defRPr>
            </a:pPr>
            <a:r>
              <a:t>Global_Sales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038344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0" i="0">
                <a:solidFill>
                  <a:srgbClr val="A9B6CD"/>
                </a:solidFill>
                <a:latin typeface="Aptos"/>
              </a:defRPr>
            </a:pPr>
            <a:r>
              <a:t>Worldwide sales; often in millions of units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783080"/>
            <a:ext cx="3611880" cy="141732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9831" y="1947672"/>
            <a:ext cx="50292" cy="1088136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7" y="1947672"/>
            <a:ext cx="31363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7" y="2258568"/>
            <a:ext cx="31363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Potential predictors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7" y="2734056"/>
            <a:ext cx="3136392" cy="374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Genre, platform, publisher, release 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3456432"/>
            <a:ext cx="3611880" cy="141732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99831" y="3621024"/>
            <a:ext cx="50292" cy="1088136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7" y="3621024"/>
            <a:ext cx="31363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9D70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7" y="3931920"/>
            <a:ext cx="31363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Sales 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7" y="4407408"/>
            <a:ext cx="3136392" cy="374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High sales / low sales, defined by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8392" y="5212080"/>
            <a:ext cx="3474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FFCB5B"/>
                </a:solidFill>
                <a:latin typeface="Aptos"/>
              </a:defRPr>
            </a:pPr>
            <a:r>
              <a:t>Dataset versions differ: inspect the actual file before analysis.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05  /  Proposed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Five stages from raw data to validated predictions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993392" cy="18288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00E1C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16276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162763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Load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88036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2000" b="1" i="0">
                <a:solidFill>
                  <a:srgbClr val="00E1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2240280"/>
            <a:ext cx="1993392" cy="18288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45059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9D70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62072"/>
            <a:ext cx="16276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83280"/>
            <a:ext cx="162763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Clean and 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88036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2000" b="1" i="0">
                <a:solidFill>
                  <a:srgbClr val="00E1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240280"/>
            <a:ext cx="1993392" cy="18288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45059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00E1C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862072"/>
            <a:ext cx="16276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383280"/>
            <a:ext cx="162763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Analyze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88036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2000" b="1" i="0">
                <a:solidFill>
                  <a:srgbClr val="00E1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19" y="2240280"/>
            <a:ext cx="1993392" cy="18288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399" y="245059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9D70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399" y="2862072"/>
            <a:ext cx="16276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9" y="3383280"/>
            <a:ext cx="162763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Train classifier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1" y="288036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2000" b="1" i="0">
                <a:solidFill>
                  <a:srgbClr val="00E1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2240280"/>
            <a:ext cx="1993392" cy="18288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19" y="245059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00E1C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2862072"/>
            <a:ext cx="16276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19" y="3383280"/>
            <a:ext cx="162763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Review 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709160"/>
            <a:ext cx="10195560" cy="731520"/>
          </a:xfrm>
          <a:prstGeom prst="roundRect">
            <a:avLst/>
          </a:prstGeom>
          <a:solidFill>
            <a:srgbClr val="1A274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956048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00E1C3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901184"/>
            <a:ext cx="7909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Record cleaning rules, target threshold, split strategy, and model settings.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06  /  Exploratory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Questions and visualizations to include in the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83280" cy="1508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1947672"/>
            <a:ext cx="50292" cy="1179576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47672"/>
            <a:ext cx="29077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ANALYSIS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258568"/>
            <a:ext cx="29077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Genre-wise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34056"/>
            <a:ext cx="2907792" cy="466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Compare total and average sales by genre.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1508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50292" cy="1179576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947672"/>
            <a:ext cx="29077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9D70FF"/>
                </a:solidFill>
                <a:latin typeface="Aptos"/>
              </a:defRPr>
            </a:pPr>
            <a:r>
              <a:t>ANALYSIS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258568"/>
            <a:ext cx="29077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Platform-wise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734056"/>
            <a:ext cx="2907792" cy="466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Compare platforms with adequate data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783080"/>
            <a:ext cx="3383280" cy="1508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7" y="1947672"/>
            <a:ext cx="50292" cy="1179576"/>
          </a:xfrm>
          <a:prstGeom prst="rect">
            <a:avLst/>
          </a:prstGeom>
          <a:solidFill>
            <a:srgbClr val="FFC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1947672"/>
            <a:ext cx="29077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FFCB5B"/>
                </a:solidFill>
                <a:latin typeface="Aptos"/>
              </a:defRPr>
            </a:pPr>
            <a:r>
              <a:t>ANALYSIS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258568"/>
            <a:ext cx="29077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Sales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2734056"/>
            <a:ext cx="2907792" cy="466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Review sales and release patterns by year.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57600"/>
            <a:ext cx="5230368" cy="141732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" y="3822191"/>
            <a:ext cx="50292" cy="1088136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822191"/>
            <a:ext cx="4754879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VISUALS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133087"/>
            <a:ext cx="4754879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Charts and summaries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608576"/>
            <a:ext cx="4754879" cy="374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Bar charts, line plots, distributions, and regional comparisons.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57600"/>
            <a:ext cx="5230368" cy="141732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3822191"/>
            <a:ext cx="50292" cy="1088136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822191"/>
            <a:ext cx="4754879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9D70FF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4133087"/>
            <a:ext cx="4754879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608576"/>
            <a:ext cx="4754879" cy="374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Which categories stand out, and do patterns vary by region?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577840"/>
            <a:ext cx="10149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100" b="1" i="0">
                <a:solidFill>
                  <a:srgbClr val="FFCB5B"/>
                </a:solidFill>
                <a:latin typeface="Aptos"/>
              </a:defRPr>
            </a:pPr>
            <a:r>
              <a:t>All charts and conclusions should be generated from the chosen dataset—not assumed in advance.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07  /  Prediction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A simple, measurable classification experiment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3383280" cy="16002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1920240"/>
            <a:ext cx="50292" cy="1271016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20240"/>
            <a:ext cx="29077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231136"/>
            <a:ext cx="29077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High / low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06624"/>
            <a:ext cx="2907792" cy="5577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Choose and document a threshold before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16002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50292" cy="1271016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920240"/>
            <a:ext cx="29077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9D70FF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231136"/>
            <a:ext cx="29077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Decision Tree +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706624"/>
            <a:ext cx="2907792" cy="5577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Use a simple baseline and compare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755648"/>
            <a:ext cx="3383280" cy="160020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7" y="1920240"/>
            <a:ext cx="50292" cy="1271016"/>
          </a:xfrm>
          <a:prstGeom prst="rect">
            <a:avLst/>
          </a:prstGeom>
          <a:solidFill>
            <a:srgbClr val="FFC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1920240"/>
            <a:ext cx="2907792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FFCB5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231136"/>
            <a:ext cx="2907792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600" b="1" i="0">
                <a:solidFill>
                  <a:srgbClr val="F6F9FF"/>
                </a:solidFill>
                <a:latin typeface="Aptos"/>
              </a:defRPr>
            </a:pPr>
            <a:r>
              <a:t>Beyond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2706624"/>
            <a:ext cx="2907792" cy="5577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Use precision, recall, F1-score, and confusion matrix.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67328"/>
            <a:ext cx="10561320" cy="132588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60"/>
            <a:ext cx="34290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FF7489"/>
                </a:solidFill>
                <a:latin typeface="Aptos"/>
              </a:defRPr>
            </a:pPr>
            <a:r>
              <a:t>IMPORTANT: AVOID DATA 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07408"/>
            <a:ext cx="978408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300" b="0" i="0">
                <a:solidFill>
                  <a:srgbClr val="F6F9FF"/>
                </a:solidFill>
                <a:latin typeface="Aptos"/>
              </a:defRPr>
            </a:pPr>
            <a:r>
              <a:t>If Global_Sales defines the target label, do not use Global_Sales as an input feature. Split data before fitting preprocessing, and report the test-set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53212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200" b="1" i="0">
                <a:solidFill>
                  <a:srgbClr val="A9B6CD"/>
                </a:solidFill>
                <a:latin typeface="Aptos"/>
              </a:defRPr>
            </a:pPr>
            <a:r>
              <a:t>Suggested tools: Python • Pandas • Seaborn / Matplotlib • Scikit-learn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08  /  Review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Use this slide to communicate what is done and what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9260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00E1C3"/>
                </a:solidFill>
                <a:latin typeface="Aptos"/>
              </a:defRPr>
            </a:pPr>
            <a:r>
              <a:t>REVIEW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755648"/>
            <a:ext cx="53949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900" b="1" i="0">
                <a:solidFill>
                  <a:srgbClr val="9D70FF"/>
                </a:solidFill>
                <a:latin typeface="Aptos"/>
              </a:defRPr>
            </a:pPr>
            <a:r>
              <a:t>STATUS / EVIDENCE TO SHOW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48840"/>
            <a:ext cx="10515600" cy="502920"/>
          </a:xfrm>
          <a:prstGeom prst="roundRect">
            <a:avLst/>
          </a:prstGeom>
          <a:solidFill>
            <a:srgbClr val="13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58568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6F9FF"/>
                </a:solidFill>
                <a:latin typeface="Aptos"/>
              </a:defRPr>
            </a:pPr>
            <a:r>
              <a:t>Dataset selected and loaded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6263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Show source, shape, and column names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770632"/>
            <a:ext cx="10515600" cy="50292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880360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6F9FF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80360"/>
            <a:ext cx="6263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Show missing-value and duplicate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92424"/>
            <a:ext cx="10515600" cy="502920"/>
          </a:xfrm>
          <a:prstGeom prst="roundRect">
            <a:avLst/>
          </a:prstGeom>
          <a:solidFill>
            <a:srgbClr val="13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502152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6F9FF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02152"/>
            <a:ext cx="6263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Show at least 2–3 generated plots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014216"/>
            <a:ext cx="10515600" cy="50292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123944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6F9FF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123944"/>
            <a:ext cx="6263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Show train/test split and chosen algorithm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636008"/>
            <a:ext cx="10515600" cy="502920"/>
          </a:xfrm>
          <a:prstGeom prst="roundRect">
            <a:avLst/>
          </a:prstGeom>
          <a:solidFill>
            <a:srgbClr val="13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745736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F6F9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745736"/>
            <a:ext cx="6263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Show confusion matrix and test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241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100" b="1" i="0">
                <a:solidFill>
                  <a:srgbClr val="FFCB5B"/>
                </a:solidFill>
                <a:latin typeface="Aptos"/>
              </a:defRPr>
            </a:pPr>
            <a:r>
              <a:t>Before presenting: replace or annotate each row with your real status (Done / In Progress / Pending).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09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29718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00E1C3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700" b="1" i="0">
                <a:solidFill>
                  <a:srgbClr val="F6F9FF"/>
                </a:solidFill>
                <a:latin typeface="Aptos"/>
              </a:defRPr>
            </a:pPr>
            <a:r>
              <a:t>09  /  Timeline &amp; Validation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097280"/>
            <a:ext cx="841248" cy="50292"/>
          </a:xfrm>
          <a:prstGeom prst="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43584"/>
            <a:ext cx="106070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0" i="0">
                <a:solidFill>
                  <a:srgbClr val="A9B6CD"/>
                </a:solidFill>
                <a:latin typeface="Aptos"/>
              </a:defRPr>
            </a:pPr>
            <a:r>
              <a:t>Suggested milestones—adjust dates to your review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325880" cy="658368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123444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000" b="1" i="0">
                <a:solidFill>
                  <a:srgbClr val="0A0F1E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19656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Dataset &amp;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847088"/>
            <a:ext cx="59893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Select data, inspect columns, clean missing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70632"/>
            <a:ext cx="1325880" cy="658368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62656"/>
            <a:ext cx="123444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000" b="1" i="0">
                <a:solidFill>
                  <a:srgbClr val="0A0F1E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0720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EDA &amp;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834640"/>
            <a:ext cx="59893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Generate plots and summarize observations.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58184"/>
            <a:ext cx="1325880" cy="658368"/>
          </a:xfrm>
          <a:prstGeom prst="roundRect">
            <a:avLst/>
          </a:prstGeom>
          <a:solidFill>
            <a:srgbClr val="FFC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23444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000" b="1" i="0">
                <a:solidFill>
                  <a:srgbClr val="0A0F1E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822192"/>
            <a:ext cx="59893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Create target class, train baseline models.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45736"/>
            <a:ext cx="1325880" cy="658368"/>
          </a:xfrm>
          <a:prstGeom prst="roundRect">
            <a:avLst/>
          </a:prstGeom>
          <a:solidFill>
            <a:srgbClr val="7BD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23444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000" b="1" i="0">
                <a:solidFill>
                  <a:srgbClr val="0A0F1E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78231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400" b="1" i="0">
                <a:solidFill>
                  <a:srgbClr val="F6F9FF"/>
                </a:solidFill>
                <a:latin typeface="Aptos"/>
              </a:defRPr>
            </a:pPr>
            <a:r>
              <a:t>Evaluation &amp;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809744"/>
            <a:ext cx="59893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100" b="0" i="0">
                <a:solidFill>
                  <a:srgbClr val="A9B6CD"/>
                </a:solidFill>
                <a:latin typeface="Aptos"/>
              </a:defRPr>
            </a:pPr>
            <a:r>
              <a:t>Compare metrics, document limitations, prepare demo.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715000"/>
            <a:ext cx="10469880" cy="438912"/>
          </a:xfrm>
          <a:prstGeom prst="roundRect">
            <a:avLst/>
          </a:prstGeom>
          <a:solidFill>
            <a:srgbClr val="1A2744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824728"/>
            <a:ext cx="10058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defRPr sz="1000" b="1" i="0">
                <a:solidFill>
                  <a:srgbClr val="FFCB5B"/>
                </a:solidFill>
                <a:latin typeface="Aptos"/>
              </a:defRPr>
            </a:pPr>
            <a:r>
              <a:t>Main risks: missing data • class imbalance • data leakage • weak generalization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37376"/>
            <a:ext cx="10881360" cy="1097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6510528"/>
            <a:ext cx="71323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INTRODUCTION TO DATA SCIENCE  / 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3888" y="6492240"/>
            <a:ext cx="9144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13232"/>
            <a:ext cx="38404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000" b="1" i="0">
                <a:solidFill>
                  <a:srgbClr val="00E1C3"/>
                </a:solidFill>
                <a:latin typeface="Aptos"/>
              </a:defRPr>
            </a:pPr>
            <a:r>
              <a:t>PROJECT REVIEW  /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7040880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3400" b="1" i="0">
                <a:solidFill>
                  <a:srgbClr val="F6F9FF"/>
                </a:solidFill>
                <a:latin typeface="Aptos"/>
              </a:defRPr>
            </a:pPr>
            <a:r>
              <a:t>From raw sales data</a:t>
            </a:r>
            <a:br/>
            <a:r>
              <a:t>to meaningful insight.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1200" b="1" i="0">
                <a:solidFill>
                  <a:srgbClr val="9D70FF"/>
                </a:solidFill>
                <a:latin typeface="Aptos"/>
              </a:defRPr>
            </a:pPr>
            <a:r>
              <a:t>Expected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9584"/>
            <a:ext cx="6858000" cy="2148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6F9FF"/>
                </a:solidFill>
                <a:latin typeface="Aptos"/>
              </a:defRPr>
            </a:pPr>
            <a:r>
              <a:t>•  Clean and documented dataset</a:t>
            </a:r>
          </a:p>
          <a:p>
            <a:pPr>
              <a:spcAft>
                <a:spcPts val="800"/>
              </a:spcAft>
              <a:defRPr sz="1500">
                <a:solidFill>
                  <a:srgbClr val="F6F9FF"/>
                </a:solidFill>
                <a:latin typeface="Aptos"/>
              </a:defRPr>
            </a:pPr>
            <a:r>
              <a:t>•  Genre, platform, and regional sales visualizations</a:t>
            </a:r>
          </a:p>
          <a:p>
            <a:pPr>
              <a:spcAft>
                <a:spcPts val="800"/>
              </a:spcAft>
              <a:defRPr sz="1500">
                <a:solidFill>
                  <a:srgbClr val="F6F9FF"/>
                </a:solidFill>
                <a:latin typeface="Aptos"/>
              </a:defRPr>
            </a:pPr>
            <a:r>
              <a:t>•  A baseline classification model with test metrics</a:t>
            </a:r>
          </a:p>
          <a:p>
            <a:pPr>
              <a:spcAft>
                <a:spcPts val="800"/>
              </a:spcAft>
              <a:defRPr sz="1500">
                <a:solidFill>
                  <a:srgbClr val="F6F9FF"/>
                </a:solidFill>
                <a:latin typeface="Aptos"/>
              </a:defRPr>
            </a:pPr>
            <a:r>
              <a:t>•  A conclusion grounded in the actual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383279"/>
            <a:ext cx="246888" cy="822960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3960" y="2834639"/>
            <a:ext cx="246888" cy="137160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0" y="3154679"/>
            <a:ext cx="246888" cy="1051560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29800" y="2377439"/>
            <a:ext cx="246888" cy="1828800"/>
          </a:xfrm>
          <a:prstGeom prst="round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20" y="2651759"/>
            <a:ext cx="246888" cy="1554480"/>
          </a:xfrm>
          <a:prstGeom prst="roundRect">
            <a:avLst/>
          </a:prstGeom>
          <a:solidFill>
            <a:srgbClr val="00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2400" b="1" i="0">
                <a:solidFill>
                  <a:srgbClr val="00E1C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532120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1100" b="1" i="0">
                <a:solidFill>
                  <a:srgbClr val="A9B6CD"/>
                </a:solidFill>
                <a:latin typeface="Aptos"/>
              </a:defRPr>
            </a:pPr>
            <a:r>
              <a:t>Questions &amp;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6510528"/>
            <a:ext cx="86868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 i="0">
                <a:solidFill>
                  <a:srgbClr val="A9B6CD"/>
                </a:solidFill>
                <a:latin typeface="Aptos"/>
              </a:defRPr>
            </a:pPr>
            <a: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