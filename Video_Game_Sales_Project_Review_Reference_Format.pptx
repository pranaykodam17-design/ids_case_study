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datasets/anandshaw2001/video-game-sale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38912"/>
            <a:ext cx="22860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7E6C5E"/>
                </a:solidFill>
                <a:latin typeface="Aptos"/>
              </a:defRPr>
            </a:pPr>
            <a:r>
              <a:t>DATA SCIENCE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1143000"/>
            <a:ext cx="5120640" cy="2240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3000" b="0" i="0">
                <a:solidFill>
                  <a:srgbClr val="301911"/>
                </a:solidFill>
                <a:latin typeface="Arial Narrow"/>
              </a:defRPr>
            </a:pPr>
            <a:r>
              <a:t>A Comprehensive</a:t>
            </a:r>
            <a:br/>
            <a:r>
              <a:t>Data Analysis of</a:t>
            </a:r>
            <a:br/>
            <a:r>
              <a:t>Video Game Sales &amp;</a:t>
            </a:r>
            <a:br/>
            <a:r>
              <a:t>Genre/Platform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3547872"/>
            <a:ext cx="4983480" cy="576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Exploring genre performance, platform trends,</a:t>
            </a:r>
            <a:br/>
            <a:r>
              <a:t>regional sales, and success-category prediction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5488" y="4315968"/>
            <a:ext cx="640080" cy="0"/>
          </a:xfrm>
          <a:prstGeom prst="line">
            <a:avLst/>
          </a:prstGeom>
          <a:ln w="15240">
            <a:solidFill>
              <a:srgbClr val="7E6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623560" y="1143000"/>
            <a:ext cx="1874519" cy="1874519"/>
          </a:xfrm>
          <a:prstGeom prst="ellipse">
            <a:avLst/>
          </a:prstGeom>
          <a:solidFill>
            <a:srgbClr val="F9E5E0"/>
          </a:solidFill>
          <a:ln w="12700">
            <a:solidFill>
              <a:srgbClr val="F2D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0" y="1143000"/>
            <a:ext cx="1874519" cy="1874519"/>
          </a:xfrm>
          <a:prstGeom prst="ellipse">
            <a:avLst/>
          </a:prstGeom>
          <a:solidFill>
            <a:srgbClr val="EFE8F6"/>
          </a:solidFill>
          <a:ln w="12700">
            <a:solidFill>
              <a:srgbClr val="DED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62472" y="1874519"/>
            <a:ext cx="960120" cy="365760"/>
          </a:xfrm>
          <a:prstGeom prst="roundRect">
            <a:avLst/>
          </a:prstGeom>
          <a:solidFill>
            <a:srgbClr val="F9E5E0"/>
          </a:solidFill>
          <a:ln w="17780">
            <a:solidFill>
              <a:srgbClr val="AE3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291072" y="1956816"/>
            <a:ext cx="0" cy="182880"/>
          </a:xfrm>
          <a:prstGeom prst="line">
            <a:avLst/>
          </a:prstGeom>
          <a:ln w="21590">
            <a:solidFill>
              <a:srgbClr val="AE3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99632" y="2048256"/>
            <a:ext cx="182880" cy="0"/>
          </a:xfrm>
          <a:prstGeom prst="line">
            <a:avLst/>
          </a:prstGeom>
          <a:ln w="21590">
            <a:solidFill>
              <a:srgbClr val="AE39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675120" y="1956816"/>
            <a:ext cx="68580" cy="68580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93992" y="2048256"/>
            <a:ext cx="68580" cy="68580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2450592"/>
            <a:ext cx="93268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 i="0">
                <a:solidFill>
                  <a:srgbClr val="AE3936"/>
                </a:solidFill>
                <a:latin typeface="Arial Narrow"/>
              </a:defRPr>
            </a:pPr>
            <a:r>
              <a:t>GENRE</a:t>
            </a:r>
            <a:br/>
            <a:r>
              <a:t>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4032" y="1975103"/>
            <a:ext cx="91440" cy="256032"/>
          </a:xfrm>
          <a:prstGeom prst="roundRect">
            <a:avLst/>
          </a:prstGeom>
          <a:solidFill>
            <a:srgbClr val="DED3EF"/>
          </a:solidFill>
          <a:ln w="5080">
            <a:solidFill>
              <a:srgbClr val="5B3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87768" y="1888236"/>
            <a:ext cx="91440" cy="429768"/>
          </a:xfrm>
          <a:prstGeom prst="roundRect">
            <a:avLst/>
          </a:prstGeom>
          <a:solidFill>
            <a:srgbClr val="5B3D8B"/>
          </a:solidFill>
          <a:ln w="5080">
            <a:solidFill>
              <a:srgbClr val="5B3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1504" y="1801367"/>
            <a:ext cx="91440" cy="603504"/>
          </a:xfrm>
          <a:prstGeom prst="roundRect">
            <a:avLst/>
          </a:prstGeom>
          <a:solidFill>
            <a:srgbClr val="DED3EF"/>
          </a:solidFill>
          <a:ln w="5080">
            <a:solidFill>
              <a:srgbClr val="5B3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1920239"/>
            <a:ext cx="91440" cy="365760"/>
          </a:xfrm>
          <a:prstGeom prst="roundRect">
            <a:avLst/>
          </a:prstGeom>
          <a:solidFill>
            <a:srgbClr val="5B3D8B"/>
          </a:solidFill>
          <a:ln w="5080">
            <a:solidFill>
              <a:srgbClr val="5B3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450592"/>
            <a:ext cx="98755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 i="0">
                <a:solidFill>
                  <a:srgbClr val="5B3D8B"/>
                </a:solidFill>
                <a:latin typeface="Arial Narrow"/>
              </a:defRPr>
            </a:pPr>
            <a:r>
              <a:t>PLATFORM</a:t>
            </a:r>
            <a:br/>
            <a:r>
              <a:t>SUCCESS</a:t>
            </a:r>
          </a:p>
        </p:txBody>
      </p:sp>
      <p:sp>
        <p:nvSpPr>
          <p:cNvPr id="19" name="Oval 18"/>
          <p:cNvSpPr/>
          <p:nvPr/>
        </p:nvSpPr>
        <p:spPr>
          <a:xfrm>
            <a:off x="8010144" y="713232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10144" y="832104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0144" y="950976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29016" y="713232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29016" y="832104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29016" y="950976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47888" y="713232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47888" y="832104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950976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6760" y="713232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66760" y="832104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66760" y="950976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85632" y="713232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85632" y="832104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85632" y="950976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32120" y="3474720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50992" y="3474720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69864" y="3474720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88736" y="3474720"/>
            <a:ext cx="22860" cy="22860"/>
          </a:xfrm>
          <a:prstGeom prst="ellipse">
            <a:avLst/>
          </a:prstGeom>
          <a:solidFill>
            <a:srgbClr val="CBB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75488" y="4617720"/>
            <a:ext cx="566928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658868"/>
            <a:ext cx="512064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24712" y="4617720"/>
            <a:ext cx="82296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2144" y="4658868"/>
            <a:ext cx="76809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29968" y="4617720"/>
            <a:ext cx="128016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4658868"/>
            <a:ext cx="1225295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92424" y="4617720"/>
            <a:ext cx="109728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658868"/>
            <a:ext cx="1042415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PYTHON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846320"/>
            <a:ext cx="16459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074920"/>
            <a:ext cx="2057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 i="0">
                <a:solidFill>
                  <a:srgbClr val="301911"/>
                </a:solidFill>
                <a:latin typeface="Arial Narrow"/>
              </a:defRPr>
            </a:pPr>
            <a:r>
              <a:t>[Your Name]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5330952"/>
            <a:ext cx="26060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Student ID: [Your ID]</a:t>
            </a:r>
            <a:br/>
            <a:r>
              <a:t>Branch: AI &amp; Data Science</a:t>
            </a:r>
            <a:br/>
            <a:r>
              <a:t>Course: Introduction to Data Science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6144768"/>
            <a:ext cx="1508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Problem Statement &amp; Research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Understanding the key questions behind historical video game sales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389888"/>
            <a:ext cx="22860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18488"/>
            <a:ext cx="448056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0" i="0">
                <a:solidFill>
                  <a:srgbClr val="5B4538"/>
                </a:solidFill>
                <a:latin typeface="Aptos"/>
              </a:defRPr>
            </a:pPr>
            <a:r>
              <a:t>Video game sales vary by genre, platform, publisher, release year, and region. Without systematic analysis, it is difficult to compare market performance or identify useful sales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331720"/>
            <a:ext cx="2148840" cy="1600200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2505456"/>
            <a:ext cx="402336" cy="402336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578608"/>
            <a:ext cx="40233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800" b="1" i="0">
                <a:solidFill>
                  <a:srgbClr val="AE3936"/>
                </a:solidFill>
                <a:latin typeface="Arial Narrow"/>
              </a:defRPr>
            </a:pPr>
            <a: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14600"/>
            <a:ext cx="1280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 i="0">
                <a:solidFill>
                  <a:srgbClr val="301911"/>
                </a:solidFill>
                <a:latin typeface="Arial Narrow"/>
              </a:defRPr>
            </a:pPr>
            <a:r>
              <a:t>Genre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40"/>
            <a:ext cx="123444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Which game categories account for higher recorded sales?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3401568"/>
            <a:ext cx="1764792" cy="0"/>
          </a:xfrm>
          <a:prstGeom prst="line">
            <a:avLst/>
          </a:prstGeom>
          <a:ln w="1016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3520440"/>
            <a:ext cx="1737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AE3936"/>
                </a:solidFill>
                <a:latin typeface="Aptos"/>
              </a:defRPr>
            </a:pPr>
            <a:r>
              <a:t>Key metric: Global_Sales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2331720"/>
            <a:ext cx="2148840" cy="1600200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80360" y="2505456"/>
            <a:ext cx="402336" cy="40233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2578608"/>
            <a:ext cx="40233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 i="0">
                <a:solidFill>
                  <a:srgbClr val="5B3D8B"/>
                </a:solidFill>
                <a:latin typeface="Arial Narrow"/>
              </a:defRPr>
            </a:pPr>
            <a:r>
              <a:t>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2514600"/>
            <a:ext cx="126187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1" i="0">
                <a:solidFill>
                  <a:srgbClr val="301911"/>
                </a:solidFill>
                <a:latin typeface="Arial Narrow"/>
              </a:defRPr>
            </a:pPr>
            <a:r>
              <a:t>Platform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2834640"/>
            <a:ext cx="118872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How do sales compare across consoles and PC platforms?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360" y="3401568"/>
            <a:ext cx="1764792" cy="0"/>
          </a:xfrm>
          <a:prstGeom prst="line">
            <a:avLst/>
          </a:prstGeom>
          <a:ln w="10160">
            <a:solidFill>
              <a:srgbClr val="D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880360" y="3520440"/>
            <a:ext cx="17830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5B3D8B"/>
                </a:solidFill>
                <a:latin typeface="Aptos"/>
              </a:defRPr>
            </a:pPr>
            <a:r>
              <a:t>Key metric: sales by platform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0" y="1417320"/>
            <a:ext cx="0" cy="265176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49240" y="1389888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RESEARCH OBJECTIVES</a:t>
            </a:r>
          </a:p>
        </p:txBody>
      </p:sp>
      <p:sp>
        <p:nvSpPr>
          <p:cNvPr id="27" name="Oval 26"/>
          <p:cNvSpPr/>
          <p:nvPr/>
        </p:nvSpPr>
        <p:spPr>
          <a:xfrm>
            <a:off x="5367528" y="1691640"/>
            <a:ext cx="283464" cy="283464"/>
          </a:xfrm>
          <a:prstGeom prst="ellipse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7528" y="1755648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2432" y="1682496"/>
            <a:ext cx="2880360" cy="310896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1741932"/>
            <a:ext cx="26243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Summarize the dataset and check missing values.</a:t>
            </a:r>
          </a:p>
        </p:txBody>
      </p:sp>
      <p:sp>
        <p:nvSpPr>
          <p:cNvPr id="31" name="Oval 30"/>
          <p:cNvSpPr/>
          <p:nvPr/>
        </p:nvSpPr>
        <p:spPr>
          <a:xfrm>
            <a:off x="5367528" y="2084832"/>
            <a:ext cx="283464" cy="283464"/>
          </a:xfrm>
          <a:prstGeom prst="ellipse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7528" y="2148840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42432" y="2075688"/>
            <a:ext cx="2880360" cy="310896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2135124"/>
            <a:ext cx="26243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Compare global sales across genres.</a:t>
            </a:r>
          </a:p>
        </p:txBody>
      </p:sp>
      <p:sp>
        <p:nvSpPr>
          <p:cNvPr id="35" name="Oval 34"/>
          <p:cNvSpPr/>
          <p:nvPr/>
        </p:nvSpPr>
        <p:spPr>
          <a:xfrm>
            <a:off x="5367528" y="2478024"/>
            <a:ext cx="283464" cy="283464"/>
          </a:xfrm>
          <a:prstGeom prst="ellipse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2542032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42432" y="2468880"/>
            <a:ext cx="2880360" cy="310896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0448" y="2528316"/>
            <a:ext cx="26243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Rank platforms by recorded global sales.</a:t>
            </a:r>
          </a:p>
        </p:txBody>
      </p:sp>
      <p:sp>
        <p:nvSpPr>
          <p:cNvPr id="39" name="Oval 38"/>
          <p:cNvSpPr/>
          <p:nvPr/>
        </p:nvSpPr>
        <p:spPr>
          <a:xfrm>
            <a:off x="5367528" y="2871216"/>
            <a:ext cx="283464" cy="283464"/>
          </a:xfrm>
          <a:prstGeom prst="ellipse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67528" y="2935224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42432" y="2862072"/>
            <a:ext cx="2880360" cy="310896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0448" y="2921508"/>
            <a:ext cx="26243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Explore regional sales differences.</a:t>
            </a:r>
          </a:p>
        </p:txBody>
      </p:sp>
      <p:sp>
        <p:nvSpPr>
          <p:cNvPr id="43" name="Oval 42"/>
          <p:cNvSpPr/>
          <p:nvPr/>
        </p:nvSpPr>
        <p:spPr>
          <a:xfrm>
            <a:off x="5367528" y="3264408"/>
            <a:ext cx="283464" cy="283464"/>
          </a:xfrm>
          <a:prstGeom prst="ellipse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67528" y="3328416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42432" y="3255264"/>
            <a:ext cx="2880360" cy="310896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3314700"/>
            <a:ext cx="26243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Study sales patterns across release years.</a:t>
            </a:r>
          </a:p>
        </p:txBody>
      </p:sp>
      <p:sp>
        <p:nvSpPr>
          <p:cNvPr id="47" name="Oval 46"/>
          <p:cNvSpPr/>
          <p:nvPr/>
        </p:nvSpPr>
        <p:spPr>
          <a:xfrm>
            <a:off x="5367528" y="3657600"/>
            <a:ext cx="283464" cy="283464"/>
          </a:xfrm>
          <a:prstGeom prst="ellipse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67528" y="3721608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42432" y="3648456"/>
            <a:ext cx="2880360" cy="310896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70448" y="3707891"/>
            <a:ext cx="262432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Build a high/low sales classification baseline.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" y="4251960"/>
            <a:ext cx="8229600" cy="1078992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2648" y="4526280"/>
            <a:ext cx="438912" cy="438912"/>
          </a:xfrm>
          <a:prstGeom prst="ellipse">
            <a:avLst/>
          </a:prstGeom>
          <a:solidFill>
            <a:srgbClr val="E8D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" y="4590288"/>
            <a:ext cx="43891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800" b="1" i="0">
                <a:solidFill>
                  <a:srgbClr val="5B4538"/>
                </a:solidFill>
                <a:latin typeface="Arial Narrow"/>
              </a:defRPr>
            </a:pPr>
            <a:r>
              <a:t>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5296" y="4517136"/>
            <a:ext cx="1508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RESEARCH QUESTION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743200" y="4416552"/>
            <a:ext cx="0" cy="749808"/>
          </a:xfrm>
          <a:prstGeom prst="line">
            <a:avLst/>
          </a:prstGeom>
          <a:ln w="1016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971800" y="4462272"/>
            <a:ext cx="52578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0" i="0">
                <a:solidFill>
                  <a:srgbClr val="301911"/>
                </a:solidFill>
                <a:latin typeface="Arial Narrow"/>
              </a:defRPr>
            </a:pPr>
            <a:r>
              <a:t>Can historical video game sales data reveal genre and platform patterns that help estimate a game's sales-success category?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DATASET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Dataset &amp;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Public sales data for genre, platform, year, publisher, and region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481328"/>
            <a:ext cx="4114800" cy="3246120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1691640"/>
            <a:ext cx="438912" cy="4389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73936"/>
            <a:ext cx="43891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600" b="1" i="0">
                <a:solidFill>
                  <a:srgbClr val="AE3936"/>
                </a:solidFill>
                <a:latin typeface="Arial Narrow"/>
              </a:defRPr>
            </a:pPr>
            <a:r>
              <a:t>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709928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 i="0">
                <a:solidFill>
                  <a:srgbClr val="301911"/>
                </a:solidFill>
                <a:latin typeface="Arial Narrow"/>
              </a:defRPr>
            </a:pPr>
            <a:r>
              <a:t>Video Game Sales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029968"/>
            <a:ext cx="27432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5B4538"/>
                </a:solidFill>
                <a:latin typeface="Aptos"/>
              </a:defRPr>
            </a:pPr>
            <a:r>
              <a:t>Kaggle source: anandshaw2001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36118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AE3936"/>
                </a:solidFill>
                <a:latin typeface="Aptos"/>
              </a:defRPr>
            </a:pPr>
            <a:r>
              <a:rPr>
                <a:hlinkClick r:id="rId2"/>
              </a:rPr>
              <a:t>https://www.kaggle.com/datasets/anandshaw2001/video-game-sales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2907792"/>
            <a:ext cx="3593592" cy="0"/>
          </a:xfrm>
          <a:prstGeom prst="line">
            <a:avLst/>
          </a:prstGeom>
          <a:ln w="1016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054096"/>
            <a:ext cx="35661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DATA FIELDS TO VERIFY IN THE DOWNLOADED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364992"/>
            <a:ext cx="1097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Game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364992"/>
            <a:ext cx="24231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Name, Platform, Year, Genre, Publisher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721608"/>
            <a:ext cx="1097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Regional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3721608"/>
            <a:ext cx="24231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NA_Sales, EU_Sales, JP_Sales, Other_Sales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078224"/>
            <a:ext cx="1097280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Global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4078224"/>
            <a:ext cx="24231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Global_Sales (worldwide sales)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481328"/>
            <a:ext cx="4096512" cy="184708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040" y="1691640"/>
            <a:ext cx="438912" cy="4389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764792"/>
            <a:ext cx="43891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700" b="1" i="0">
                <a:solidFill>
                  <a:srgbClr val="5B3D8B"/>
                </a:solidFill>
                <a:latin typeface="Arial Narrow"/>
              </a:defRPr>
            </a:pPr>
            <a:r>
              <a:t>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1709928"/>
            <a:ext cx="2651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400" b="1" i="0">
                <a:solidFill>
                  <a:srgbClr val="301911"/>
                </a:solidFill>
                <a:latin typeface="Arial Narrow"/>
              </a:defRPr>
            </a:pPr>
            <a:r>
              <a:t>Variables for Analysis</a:t>
            </a:r>
          </a:p>
        </p:txBody>
      </p:sp>
      <p:sp>
        <p:nvSpPr>
          <p:cNvPr id="27" name="Oval 26"/>
          <p:cNvSpPr/>
          <p:nvPr/>
        </p:nvSpPr>
        <p:spPr>
          <a:xfrm>
            <a:off x="4919472" y="2322576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2267712"/>
            <a:ext cx="348386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Categorical: genre, platform, publisher</a:t>
            </a:r>
          </a:p>
        </p:txBody>
      </p:sp>
      <p:sp>
        <p:nvSpPr>
          <p:cNvPr id="29" name="Oval 28"/>
          <p:cNvSpPr/>
          <p:nvPr/>
        </p:nvSpPr>
        <p:spPr>
          <a:xfrm>
            <a:off x="4919472" y="2615184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2560320"/>
            <a:ext cx="348386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Time: release year</a:t>
            </a:r>
          </a:p>
        </p:txBody>
      </p:sp>
      <p:sp>
        <p:nvSpPr>
          <p:cNvPr id="31" name="Oval 30"/>
          <p:cNvSpPr/>
          <p:nvPr/>
        </p:nvSpPr>
        <p:spPr>
          <a:xfrm>
            <a:off x="4919472" y="2907792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2852928"/>
            <a:ext cx="3483864" cy="2834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Numerical: regional and global sales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3493008"/>
            <a:ext cx="4096512" cy="1234440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685032"/>
            <a:ext cx="21031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DATA QUALITY CHECKS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005072"/>
            <a:ext cx="36118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Missing values  •  Duplicate rows  •  Column types  •  Inconsistent year entries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919472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DATA PREPARATION 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212080"/>
            <a:ext cx="1261872" cy="79552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7200" y="5367528"/>
            <a:ext cx="219456" cy="219456"/>
          </a:xfrm>
          <a:prstGeom prst="ellipse">
            <a:avLst/>
          </a:prstGeom>
          <a:solidFill>
            <a:srgbClr val="E8D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22392"/>
            <a:ext cx="219456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" y="5349240"/>
            <a:ext cx="777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Load CSV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78424"/>
            <a:ext cx="1078992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Read source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36776" y="5477256"/>
            <a:ext cx="12801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64792" y="5212080"/>
            <a:ext cx="1261872" cy="79552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56232" y="5367528"/>
            <a:ext cx="219456" cy="219456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56232" y="5422392"/>
            <a:ext cx="219456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9696" y="5349240"/>
            <a:ext cx="777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6232" y="5678424"/>
            <a:ext cx="1078992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Inspect missing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5808" y="5477256"/>
            <a:ext cx="12801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63824" y="5212080"/>
            <a:ext cx="1261872" cy="79552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255264" y="5367528"/>
            <a:ext cx="219456" cy="21945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5422392"/>
            <a:ext cx="219456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8728" y="5349240"/>
            <a:ext cx="777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55264" y="5678424"/>
            <a:ext cx="1078992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Fix types / labels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5477256"/>
            <a:ext cx="12801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62856" y="5212080"/>
            <a:ext cx="1261872" cy="795528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654296" y="5367528"/>
            <a:ext cx="219456" cy="219456"/>
          </a:xfrm>
          <a:prstGeom prst="ellipse">
            <a:avLst/>
          </a:prstGeom>
          <a:solidFill>
            <a:srgbClr val="E6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54296" y="5422392"/>
            <a:ext cx="219456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0" y="5349240"/>
            <a:ext cx="777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54296" y="5678424"/>
            <a:ext cx="1078992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Summaries + charts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33872" y="5477256"/>
            <a:ext cx="12801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61888" y="5212080"/>
            <a:ext cx="1261872" cy="79552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53328" y="5367528"/>
            <a:ext cx="219456" cy="219456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53328" y="5422392"/>
            <a:ext cx="219456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349240"/>
            <a:ext cx="777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Encode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53328" y="5678424"/>
            <a:ext cx="1078992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Prepare categories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32904" y="5477256"/>
            <a:ext cx="128016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60920" y="5212080"/>
            <a:ext cx="1261872" cy="79552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52360" y="5367528"/>
            <a:ext cx="219456" cy="21945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52360" y="5422392"/>
            <a:ext cx="219456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5824" y="5349240"/>
            <a:ext cx="777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5678424"/>
            <a:ext cx="1078992" cy="210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117336"/>
            <a:ext cx="8229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70432" y="6071616"/>
            <a:ext cx="932688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97864" y="6112764"/>
            <a:ext cx="877824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203704" y="6071616"/>
            <a:ext cx="932688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31136" y="6112764"/>
            <a:ext cx="877824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36976" y="6071616"/>
            <a:ext cx="932688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64408" y="6112764"/>
            <a:ext cx="877824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70248" y="6071616"/>
            <a:ext cx="932688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97680" y="6112764"/>
            <a:ext cx="877824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SEABORN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303520" y="6071616"/>
            <a:ext cx="1161288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30952" y="6112764"/>
            <a:ext cx="1106424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Methodology &amp; Python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From source data to interpretable insights and a baseline classifier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44168"/>
            <a:ext cx="19202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ANALYSIS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18488"/>
            <a:ext cx="1115568" cy="88696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1746504"/>
            <a:ext cx="210312" cy="210312"/>
          </a:xfrm>
          <a:prstGeom prst="ellipse">
            <a:avLst/>
          </a:prstGeom>
          <a:solidFill>
            <a:srgbClr val="E8D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Load the Kaggle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38528"/>
            <a:ext cx="1188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9344" y="1618488"/>
            <a:ext cx="1115568" cy="88696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00784" y="1746504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0784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Handle missing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1938528"/>
            <a:ext cx="1188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52928" y="1618488"/>
            <a:ext cx="1115568" cy="88696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44368" y="1746504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Feature</a:t>
            </a:r>
            <a:br/>
            <a:r>
              <a:t>preparation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5224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Encode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1938528"/>
            <a:ext cx="1188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6512" y="1618488"/>
            <a:ext cx="1115568" cy="886968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87952" y="1746504"/>
            <a:ext cx="210312" cy="210312"/>
          </a:xfrm>
          <a:prstGeom prst="ellipse">
            <a:avLst/>
          </a:prstGeom>
          <a:solidFill>
            <a:srgbClr val="E6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7952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Exploratory</a:t>
            </a:r>
            <a:br/>
            <a:r>
              <a:t>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Genre / platform trends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1938528"/>
            <a:ext cx="1188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0096" y="1618488"/>
            <a:ext cx="1115568" cy="88696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31536" y="1746504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1536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22392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Regional / yearly sales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1938528"/>
            <a:ext cx="1188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1618488"/>
            <a:ext cx="1115568" cy="88696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675120" y="1746504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5976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Tree-based classifier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1938528"/>
            <a:ext cx="1188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7E6C5E"/>
                </a:solidFill>
                <a:latin typeface="Arial Narrow"/>
              </a:defRPr>
            </a:pPr>
            <a: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27264" y="1618488"/>
            <a:ext cx="1115568" cy="886968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18704" y="1746504"/>
            <a:ext cx="210312" cy="210312"/>
          </a:xfrm>
          <a:prstGeom prst="ellipse">
            <a:avLst/>
          </a:prstGeom>
          <a:solidFill>
            <a:srgbClr val="CBD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18704" y="180136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301911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1746504"/>
            <a:ext cx="667512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2167128"/>
            <a:ext cx="9601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Test metrics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2734056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2971800"/>
            <a:ext cx="2743200" cy="2505456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30352" y="3127248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3168396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3136391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Group summaries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3310128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Sum, mean, median, count</a:t>
            </a:r>
          </a:p>
        </p:txBody>
      </p:sp>
      <p:sp>
        <p:nvSpPr>
          <p:cNvPr id="57" name="Oval 56"/>
          <p:cNvSpPr/>
          <p:nvPr/>
        </p:nvSpPr>
        <p:spPr>
          <a:xfrm>
            <a:off x="530352" y="3566160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360730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3575303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Genre / platform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3749039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Compare Global_Sales</a:t>
            </a:r>
          </a:p>
        </p:txBody>
      </p:sp>
      <p:sp>
        <p:nvSpPr>
          <p:cNvPr id="61" name="Oval 60"/>
          <p:cNvSpPr/>
          <p:nvPr/>
        </p:nvSpPr>
        <p:spPr>
          <a:xfrm>
            <a:off x="530352" y="4005072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4046220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014215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Yearly trend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4187952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Aggregate by release year</a:t>
            </a:r>
          </a:p>
        </p:txBody>
      </p:sp>
      <p:sp>
        <p:nvSpPr>
          <p:cNvPr id="65" name="Oval 64"/>
          <p:cNvSpPr/>
          <p:nvPr/>
        </p:nvSpPr>
        <p:spPr>
          <a:xfrm>
            <a:off x="530352" y="4443983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4485131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4453127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Regional mix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626864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NA, EU, JP, Other</a:t>
            </a:r>
          </a:p>
        </p:txBody>
      </p:sp>
      <p:sp>
        <p:nvSpPr>
          <p:cNvPr id="69" name="Oval 68"/>
          <p:cNvSpPr/>
          <p:nvPr/>
        </p:nvSpPr>
        <p:spPr>
          <a:xfrm>
            <a:off x="530352" y="4882896"/>
            <a:ext cx="210312" cy="210312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" y="4924044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!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4892040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Missingness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065776"/>
            <a:ext cx="1874519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Count missing values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73552" y="2734056"/>
            <a:ext cx="22860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MACHINE LEARNING PLAN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46120" y="2971800"/>
            <a:ext cx="2514600" cy="2505456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401568" y="3127248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01568" y="3168396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◎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94176" y="3136391"/>
            <a:ext cx="181051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94176" y="3310128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High-sales / low-sales class</a:t>
            </a:r>
          </a:p>
        </p:txBody>
      </p:sp>
      <p:sp>
        <p:nvSpPr>
          <p:cNvPr id="79" name="Oval 78"/>
          <p:cNvSpPr/>
          <p:nvPr/>
        </p:nvSpPr>
        <p:spPr>
          <a:xfrm>
            <a:off x="3401568" y="3566160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01568" y="3607308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94176" y="3575303"/>
            <a:ext cx="181051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94176" y="3749039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Genre, platform, publisher, year</a:t>
            </a:r>
          </a:p>
        </p:txBody>
      </p:sp>
      <p:sp>
        <p:nvSpPr>
          <p:cNvPr id="83" name="Oval 82"/>
          <p:cNvSpPr/>
          <p:nvPr/>
        </p:nvSpPr>
        <p:spPr>
          <a:xfrm>
            <a:off x="3401568" y="4005072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01568" y="4046220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94176" y="4014215"/>
            <a:ext cx="181051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94176" y="4187952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Decision Tree; Random Forest</a:t>
            </a:r>
          </a:p>
        </p:txBody>
      </p:sp>
      <p:sp>
        <p:nvSpPr>
          <p:cNvPr id="87" name="Oval 86"/>
          <p:cNvSpPr/>
          <p:nvPr/>
        </p:nvSpPr>
        <p:spPr>
          <a:xfrm>
            <a:off x="3401568" y="4443983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01568" y="4485131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94176" y="4453127"/>
            <a:ext cx="181051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94176" y="4626864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Train / test data</a:t>
            </a:r>
          </a:p>
        </p:txBody>
      </p:sp>
      <p:sp>
        <p:nvSpPr>
          <p:cNvPr id="91" name="Oval 90"/>
          <p:cNvSpPr/>
          <p:nvPr/>
        </p:nvSpPr>
        <p:spPr>
          <a:xfrm>
            <a:off x="3401568" y="4882896"/>
            <a:ext cx="210312" cy="210312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01568" y="4924044"/>
            <a:ext cx="210312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94176" y="4892040"/>
            <a:ext cx="181051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1" i="0">
                <a:solidFill>
                  <a:srgbClr val="301911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94176" y="5065776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70" b="0" i="0">
                <a:solidFill>
                  <a:srgbClr val="5B4538"/>
                </a:solidFill>
                <a:latin typeface="Aptos"/>
              </a:defRPr>
            </a:pPr>
            <a:r>
              <a:t>Precision, recall, F1, accuracy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25312" y="2734056"/>
            <a:ext cx="27889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PYTHON IMPLEMENTATION (EXAMPLE)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897880" y="2971800"/>
            <a:ext cx="2862072" cy="2505456"/>
          </a:xfrm>
          <a:prstGeom prst="roundRect">
            <a:avLst/>
          </a:prstGeom>
          <a:solidFill>
            <a:srgbClr val="F4E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89904" y="3182112"/>
            <a:ext cx="2505456" cy="20848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4A7146"/>
                </a:solidFill>
                <a:latin typeface="Consolas"/>
              </a:defRPr>
            </a:pPr>
            <a:r>
              <a:t># Load libraries and data</a:t>
            </a:r>
            <a:br/>
            <a:r>
              <a:t>import pandas as pd</a:t>
            </a:r>
            <a:br/>
            <a:r>
              <a:t>df = pd.read_csv('vgsales.csv')</a:t>
            </a:r>
            <a:br/>
            <a:br/>
            <a:r>
              <a:t># Check data quality</a:t>
            </a:r>
            <a:br/>
            <a:r>
              <a:t>print(df.shape)</a:t>
            </a:r>
            <a:br/>
            <a:r>
              <a:t>print(df.isna().sum())</a:t>
            </a:r>
            <a:br/>
            <a:br/>
            <a:r>
              <a:t># Example: sales by genre</a:t>
            </a:r>
            <a:br/>
            <a:r>
              <a:t>genre_sales = df.groupby('Genre')\</a:t>
            </a:r>
            <a:br/>
            <a:r>
              <a:t>  ['Global_Sales'].sum().sort_values(</a:t>
            </a:r>
            <a:br/>
            <a:r>
              <a:t>  ascending=False)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35040" y="5248656"/>
            <a:ext cx="259689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1">
                <a:solidFill>
                  <a:srgbClr val="7E6C5E"/>
                </a:solidFill>
                <a:latin typeface="Aptos"/>
              </a:defRPr>
            </a:pPr>
            <a:r>
              <a:t>Adjust filename and column names to match the downloaded CSV.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" y="5733288"/>
            <a:ext cx="640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5840" y="5696712"/>
            <a:ext cx="100584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33272" y="5737860"/>
            <a:ext cx="95097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121408" y="5696712"/>
            <a:ext cx="100584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148840" y="5737860"/>
            <a:ext cx="95097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36976" y="5696712"/>
            <a:ext cx="100584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64408" y="5737860"/>
            <a:ext cx="95097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352544" y="5696712"/>
            <a:ext cx="1005840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79976" y="5737860"/>
            <a:ext cx="950976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SEABORN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468112" y="5696712"/>
            <a:ext cx="1216152" cy="237744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95544" y="5737860"/>
            <a:ext cx="1161288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EDA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Genre Sales Landscape &amp; 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Compare sales volume, typical performance, and release coverage by genre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417320"/>
            <a:ext cx="1938528" cy="2039112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18488"/>
            <a:ext cx="15544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ANALYSIS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38528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Main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938528"/>
            <a:ext cx="804672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Global_Sales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2176272"/>
            <a:ext cx="1554479" cy="0"/>
          </a:xfrm>
          <a:prstGeom prst="line">
            <a:avLst/>
          </a:prstGeom>
          <a:ln w="508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2267712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Grouping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267712"/>
            <a:ext cx="804672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Genre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2505456"/>
            <a:ext cx="1554479" cy="0"/>
          </a:xfrm>
          <a:prstGeom prst="line">
            <a:avLst/>
          </a:prstGeom>
          <a:ln w="508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" y="2596896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Summaries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2596896"/>
            <a:ext cx="804672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Sum / mean / median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2834639"/>
            <a:ext cx="1554479" cy="0"/>
          </a:xfrm>
          <a:prstGeom prst="line">
            <a:avLst/>
          </a:prstGeom>
          <a:ln w="508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2926080"/>
            <a:ext cx="786384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2926080"/>
            <a:ext cx="804672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Check after loading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50592" y="1417320"/>
            <a:ext cx="3712463" cy="2039112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33472" y="1609344"/>
            <a:ext cx="22860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GENRE-WISE GLOBAL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609344"/>
            <a:ext cx="137160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70" b="1" i="0">
                <a:solidFill>
                  <a:srgbClr val="AE3936"/>
                </a:solidFill>
                <a:latin typeface="Aptos"/>
              </a:defRPr>
            </a:pPr>
            <a:r>
              <a:t>Generate from dataset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70632" y="3108960"/>
            <a:ext cx="3127248" cy="0"/>
          </a:xfrm>
          <a:prstGeom prst="line">
            <a:avLst/>
          </a:prstGeom>
          <a:ln w="635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70632" y="1938528"/>
            <a:ext cx="0" cy="1170432"/>
          </a:xfrm>
          <a:prstGeom prst="line">
            <a:avLst/>
          </a:prstGeom>
          <a:ln w="635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33472" y="1984248"/>
            <a:ext cx="65836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46704" y="2007107"/>
            <a:ext cx="2267712" cy="8686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1993391"/>
            <a:ext cx="329184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3472" y="2199132"/>
            <a:ext cx="65836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46704" y="2221991"/>
            <a:ext cx="2267712" cy="8686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2208275"/>
            <a:ext cx="329184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2414015"/>
            <a:ext cx="65836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Shooter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6704" y="2436875"/>
            <a:ext cx="2267712" cy="8686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50992" y="2423159"/>
            <a:ext cx="329184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2628900"/>
            <a:ext cx="65836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RPG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46704" y="2651760"/>
            <a:ext cx="2267712" cy="8686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38044"/>
            <a:ext cx="329184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3472" y="2843784"/>
            <a:ext cx="65836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Racing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6704" y="2866644"/>
            <a:ext cx="2267712" cy="8686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50992" y="2852927"/>
            <a:ext cx="329184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06624" y="3191256"/>
            <a:ext cx="32004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580" b="0" i="1">
                <a:solidFill>
                  <a:srgbClr val="7E6C5E"/>
                </a:solidFill>
                <a:latin typeface="Aptos"/>
              </a:defRPr>
            </a:pPr>
            <a:r>
              <a:t>Tracks are placeholders — populate bar lengths from the real CSV aggregation.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27648" y="1417320"/>
            <a:ext cx="2450592" cy="2039112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1609344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QUESTIONS TO ANSWER</a:t>
            </a:r>
          </a:p>
        </p:txBody>
      </p:sp>
      <p:sp>
        <p:nvSpPr>
          <p:cNvPr id="45" name="Oval 44"/>
          <p:cNvSpPr/>
          <p:nvPr/>
        </p:nvSpPr>
        <p:spPr>
          <a:xfrm>
            <a:off x="6519672" y="2011680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1956816"/>
            <a:ext cx="18653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 i="0">
                <a:solidFill>
                  <a:srgbClr val="5B4538"/>
                </a:solidFill>
                <a:latin typeface="Aptos"/>
              </a:defRPr>
            </a:pPr>
            <a:r>
              <a:t>Which genre has the highest total sales?</a:t>
            </a:r>
          </a:p>
        </p:txBody>
      </p:sp>
      <p:sp>
        <p:nvSpPr>
          <p:cNvPr id="47" name="Oval 46"/>
          <p:cNvSpPr/>
          <p:nvPr/>
        </p:nvSpPr>
        <p:spPr>
          <a:xfrm>
            <a:off x="6519672" y="2404872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7688" y="2350008"/>
            <a:ext cx="18653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 i="0">
                <a:solidFill>
                  <a:srgbClr val="5B4538"/>
                </a:solidFill>
                <a:latin typeface="Aptos"/>
              </a:defRPr>
            </a:pPr>
            <a:r>
              <a:t>Does game count align with total sales?</a:t>
            </a:r>
          </a:p>
        </p:txBody>
      </p:sp>
      <p:sp>
        <p:nvSpPr>
          <p:cNvPr id="49" name="Oval 48"/>
          <p:cNvSpPr/>
          <p:nvPr/>
        </p:nvSpPr>
        <p:spPr>
          <a:xfrm>
            <a:off x="6519672" y="2798064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47688" y="2743200"/>
            <a:ext cx="18653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 i="0">
                <a:solidFill>
                  <a:srgbClr val="5B4538"/>
                </a:solidFill>
                <a:latin typeface="Aptos"/>
              </a:defRPr>
            </a:pPr>
            <a:r>
              <a:t>Which genres show high average sales?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7472" y="3675887"/>
            <a:ext cx="3968496" cy="2075688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6" y="3858768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GENRE SUMMARY 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178808"/>
            <a:ext cx="105156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GENRE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91640" y="4178808"/>
            <a:ext cx="77724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GAME COUNT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4178808"/>
            <a:ext cx="86868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92424" y="4178808"/>
            <a:ext cx="694944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1" i="0">
                <a:solidFill>
                  <a:srgbClr val="7E6C5E"/>
                </a:solidFill>
                <a:latin typeface="Aptos"/>
              </a:defRPr>
            </a:pPr>
            <a:r>
              <a:t>AVG. SALES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48640" y="4407408"/>
            <a:ext cx="3547872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8640" y="4489704"/>
            <a:ext cx="1051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91640" y="448970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14600" y="448970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92424" y="4489704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48640" y="4690872"/>
            <a:ext cx="3547872" cy="0"/>
          </a:xfrm>
          <a:prstGeom prst="line">
            <a:avLst/>
          </a:prstGeom>
          <a:ln w="5080">
            <a:solidFill>
              <a:srgbClr val="F5E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48640" y="4736592"/>
            <a:ext cx="1051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91640" y="4736592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14600" y="4736592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92424" y="4736592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48640" y="4937759"/>
            <a:ext cx="3547872" cy="0"/>
          </a:xfrm>
          <a:prstGeom prst="line">
            <a:avLst/>
          </a:prstGeom>
          <a:ln w="5080">
            <a:solidFill>
              <a:srgbClr val="F5E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8640" y="4983480"/>
            <a:ext cx="1051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Shooter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91640" y="4983480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14600" y="4983480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92424" y="4983480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48640" y="5184648"/>
            <a:ext cx="3547872" cy="0"/>
          </a:xfrm>
          <a:prstGeom prst="line">
            <a:avLst/>
          </a:prstGeom>
          <a:ln w="5080">
            <a:solidFill>
              <a:srgbClr val="F5EF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48640" y="5230368"/>
            <a:ext cx="1051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Role-Playing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91640" y="5230368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14600" y="5230368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92424" y="5230368"/>
            <a:ext cx="685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00" b="0" i="0">
                <a:solidFill>
                  <a:srgbClr val="7E6C5E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80560" y="3675887"/>
            <a:ext cx="4297680" cy="207568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90872" y="3858768"/>
            <a:ext cx="24231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INTERPRETATION CHECKLIST</a:t>
            </a:r>
          </a:p>
        </p:txBody>
      </p:sp>
      <p:sp>
        <p:nvSpPr>
          <p:cNvPr id="79" name="Oval 78"/>
          <p:cNvSpPr/>
          <p:nvPr/>
        </p:nvSpPr>
        <p:spPr>
          <a:xfrm>
            <a:off x="4690872" y="4288536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18888" y="4233672"/>
            <a:ext cx="3666744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Use sum for total market volume; use mean/median for typical game performance.</a:t>
            </a:r>
          </a:p>
        </p:txBody>
      </p:sp>
      <p:sp>
        <p:nvSpPr>
          <p:cNvPr id="81" name="Oval 80"/>
          <p:cNvSpPr/>
          <p:nvPr/>
        </p:nvSpPr>
        <p:spPr>
          <a:xfrm>
            <a:off x="4690872" y="4727447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18888" y="4672583"/>
            <a:ext cx="3666744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Check whether a small number of blockbuster titles skew the mean.</a:t>
            </a:r>
          </a:p>
        </p:txBody>
      </p:sp>
      <p:sp>
        <p:nvSpPr>
          <p:cNvPr id="83" name="Oval 82"/>
          <p:cNvSpPr/>
          <p:nvPr/>
        </p:nvSpPr>
        <p:spPr>
          <a:xfrm>
            <a:off x="4690872" y="5166359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18888" y="5111496"/>
            <a:ext cx="3666744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Report only trends calculated from the selected Kaggle file.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700016" y="5486400"/>
            <a:ext cx="3840480" cy="17373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73168" y="5527548"/>
            <a:ext cx="3657600" cy="91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580" b="1" i="0">
                <a:solidFill>
                  <a:srgbClr val="7E6C5E"/>
                </a:solidFill>
                <a:latin typeface="Aptos"/>
              </a:defRPr>
            </a:pPr>
            <a:r>
              <a:t>STATUS: ANALYSIS OUTPUTS TO BE FILLED FROM CSV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EDA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Platform &amp; Regional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Compare platform performance and geographic sales distribution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417320"/>
            <a:ext cx="1975104" cy="202996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09344"/>
            <a:ext cx="1600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PLATFORM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38528"/>
            <a:ext cx="7772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Grouping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938528"/>
            <a:ext cx="832104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Platform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0352" y="2176272"/>
            <a:ext cx="1591056" cy="0"/>
          </a:xfrm>
          <a:prstGeom prst="line">
            <a:avLst/>
          </a:prstGeom>
          <a:ln w="5080">
            <a:solidFill>
              <a:srgbClr val="D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2267712"/>
            <a:ext cx="7772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Main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267712"/>
            <a:ext cx="832104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Global_Sales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2505456"/>
            <a:ext cx="1591056" cy="0"/>
          </a:xfrm>
          <a:prstGeom prst="line">
            <a:avLst/>
          </a:prstGeom>
          <a:ln w="5080">
            <a:solidFill>
              <a:srgbClr val="D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" y="2596896"/>
            <a:ext cx="7772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596896"/>
            <a:ext cx="832104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Total sales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2834639"/>
            <a:ext cx="1591056" cy="0"/>
          </a:xfrm>
          <a:prstGeom prst="line">
            <a:avLst/>
          </a:prstGeom>
          <a:ln w="5080">
            <a:solidFill>
              <a:srgbClr val="DED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2926080"/>
            <a:ext cx="7772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Also 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926080"/>
            <a:ext cx="832104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710" b="1" i="0">
                <a:solidFill>
                  <a:srgbClr val="301911"/>
                </a:solidFill>
                <a:latin typeface="Aptos"/>
              </a:defRPr>
            </a:pPr>
            <a:r>
              <a:t>Game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87168" y="1417320"/>
            <a:ext cx="3730752" cy="2029968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0048" y="1609344"/>
            <a:ext cx="22860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PLATFORM SALES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1609344"/>
            <a:ext cx="132588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40" b="1" i="0">
                <a:solidFill>
                  <a:srgbClr val="5B3D8B"/>
                </a:solidFill>
                <a:latin typeface="Aptos"/>
              </a:defRPr>
            </a:pPr>
            <a:r>
              <a:t>Populate after grouping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1956816"/>
            <a:ext cx="6858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Platform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1979676"/>
            <a:ext cx="2240280" cy="8229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1965960"/>
            <a:ext cx="32004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0904" y="2171700"/>
            <a:ext cx="6858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Platform 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194560"/>
            <a:ext cx="2240280" cy="8229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50992" y="2180844"/>
            <a:ext cx="32004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60904" y="2386584"/>
            <a:ext cx="6858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Platform 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2409444"/>
            <a:ext cx="2240280" cy="8229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2395728"/>
            <a:ext cx="32004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0904" y="2601468"/>
            <a:ext cx="6858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Platform 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624328"/>
            <a:ext cx="2240280" cy="8229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0992" y="2610612"/>
            <a:ext cx="32004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0904" y="2816352"/>
            <a:ext cx="6858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Platform 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2839212"/>
            <a:ext cx="2240280" cy="8229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2825496"/>
            <a:ext cx="32004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sum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37560" y="3108960"/>
            <a:ext cx="2624328" cy="0"/>
          </a:xfrm>
          <a:prstGeom prst="line">
            <a:avLst/>
          </a:prstGeom>
          <a:ln w="635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724912" y="3182112"/>
            <a:ext cx="329184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580" b="0" i="1">
                <a:solidFill>
                  <a:srgbClr val="7E6C5E"/>
                </a:solidFill>
                <a:latin typeface="Aptos"/>
              </a:defRPr>
            </a:pPr>
            <a:r>
              <a:t>Empty tracks avoid implying a ranking before the data is analyzed.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1417320"/>
            <a:ext cx="2395728" cy="202996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1609344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REGIONAL SALES</a:t>
            </a:r>
          </a:p>
        </p:txBody>
      </p:sp>
      <p:sp>
        <p:nvSpPr>
          <p:cNvPr id="44" name="Oval 43"/>
          <p:cNvSpPr/>
          <p:nvPr/>
        </p:nvSpPr>
        <p:spPr>
          <a:xfrm>
            <a:off x="6583680" y="1947672"/>
            <a:ext cx="91440" cy="91440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1933955"/>
            <a:ext cx="914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North America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1933955"/>
            <a:ext cx="85039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30" b="0" i="0">
                <a:solidFill>
                  <a:srgbClr val="7E6C5E"/>
                </a:solidFill>
                <a:latin typeface="Aptos"/>
              </a:defRPr>
            </a:pPr>
            <a:r>
              <a:t>NA_Sales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0" y="2258568"/>
            <a:ext cx="91440" cy="91440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2244851"/>
            <a:ext cx="914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Europe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79" y="2244851"/>
            <a:ext cx="85039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30" b="0" i="0">
                <a:solidFill>
                  <a:srgbClr val="7E6C5E"/>
                </a:solidFill>
                <a:latin typeface="Aptos"/>
              </a:defRPr>
            </a:pPr>
            <a:r>
              <a:t>EU_Sales</a:t>
            </a:r>
          </a:p>
        </p:txBody>
      </p:sp>
      <p:sp>
        <p:nvSpPr>
          <p:cNvPr id="50" name="Oval 49"/>
          <p:cNvSpPr/>
          <p:nvPr/>
        </p:nvSpPr>
        <p:spPr>
          <a:xfrm>
            <a:off x="6583680" y="2569464"/>
            <a:ext cx="91440" cy="91440"/>
          </a:xfrm>
          <a:prstGeom prst="ellipse">
            <a:avLst/>
          </a:prstGeom>
          <a:solidFill>
            <a:srgbClr val="A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2555748"/>
            <a:ext cx="914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Japan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2555748"/>
            <a:ext cx="85039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30" b="0" i="0">
                <a:solidFill>
                  <a:srgbClr val="7E6C5E"/>
                </a:solidFill>
                <a:latin typeface="Aptos"/>
              </a:defRPr>
            </a:pPr>
            <a:r>
              <a:t>JP_Sales</a:t>
            </a:r>
          </a:p>
        </p:txBody>
      </p:sp>
      <p:sp>
        <p:nvSpPr>
          <p:cNvPr id="53" name="Oval 52"/>
          <p:cNvSpPr/>
          <p:nvPr/>
        </p:nvSpPr>
        <p:spPr>
          <a:xfrm>
            <a:off x="6583680" y="2880360"/>
            <a:ext cx="91440" cy="91440"/>
          </a:xfrm>
          <a:prstGeom prst="ellips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2866644"/>
            <a:ext cx="9144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Other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79" y="2866644"/>
            <a:ext cx="85039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30" b="0" i="0">
                <a:solidFill>
                  <a:srgbClr val="7E6C5E"/>
                </a:solidFill>
                <a:latin typeface="Aptos"/>
              </a:defRPr>
            </a:pPr>
            <a:r>
              <a:t>Other_Sales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" y="3675887"/>
            <a:ext cx="3977639" cy="207568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858768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GLOBAL SALES OVER RELEASE YEARS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3858768"/>
            <a:ext cx="150876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1" i="0">
                <a:solidFill>
                  <a:srgbClr val="5B3D8B"/>
                </a:solidFill>
                <a:latin typeface="Aptos"/>
              </a:defRPr>
            </a:pPr>
            <a:r>
              <a:t>Yearly aggregation from CSV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95528" y="4343400"/>
            <a:ext cx="3300984" cy="0"/>
          </a:xfrm>
          <a:prstGeom prst="line">
            <a:avLst/>
          </a:prstGeom>
          <a:ln w="5715">
            <a:solidFill>
              <a:srgbClr val="E0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5528" y="4663440"/>
            <a:ext cx="3300984" cy="0"/>
          </a:xfrm>
          <a:prstGeom prst="line">
            <a:avLst/>
          </a:prstGeom>
          <a:ln w="5715">
            <a:solidFill>
              <a:srgbClr val="E0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95528" y="4983480"/>
            <a:ext cx="3300984" cy="0"/>
          </a:xfrm>
          <a:prstGeom prst="line">
            <a:avLst/>
          </a:prstGeom>
          <a:ln w="5715">
            <a:solidFill>
              <a:srgbClr val="E0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5528" y="5303520"/>
            <a:ext cx="3300984" cy="0"/>
          </a:xfrm>
          <a:prstGeom prst="line">
            <a:avLst/>
          </a:prstGeom>
          <a:ln w="5715">
            <a:solidFill>
              <a:srgbClr val="E0D8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95528" y="4251960"/>
            <a:ext cx="0" cy="1161288"/>
          </a:xfrm>
          <a:prstGeom prst="line">
            <a:avLst/>
          </a:prstGeom>
          <a:ln w="635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95528" y="5413248"/>
            <a:ext cx="3300984" cy="0"/>
          </a:xfrm>
          <a:prstGeom prst="line">
            <a:avLst/>
          </a:prstGeom>
          <a:ln w="635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176272" y="5468112"/>
            <a:ext cx="1463040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Release year 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" y="4242816"/>
            <a:ext cx="1280160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00" b="0" i="0">
                <a:solidFill>
                  <a:srgbClr val="7E6C5E"/>
                </a:solidFill>
                <a:latin typeface="Aptos"/>
              </a:defRPr>
            </a:pPr>
            <a:r>
              <a:t>Annual global sales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98848" y="3675887"/>
            <a:ext cx="4279392" cy="2075688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60" y="3858768"/>
            <a:ext cx="29260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REGIONAL / PLATFORM QUESTIONS</a:t>
            </a:r>
          </a:p>
        </p:txBody>
      </p:sp>
      <p:sp>
        <p:nvSpPr>
          <p:cNvPr id="69" name="Oval 68"/>
          <p:cNvSpPr/>
          <p:nvPr/>
        </p:nvSpPr>
        <p:spPr>
          <a:xfrm>
            <a:off x="4709160" y="4279392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37176" y="4224528"/>
            <a:ext cx="363931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70" b="0" i="0">
                <a:solidFill>
                  <a:srgbClr val="5B4538"/>
                </a:solidFill>
                <a:latin typeface="Aptos"/>
              </a:defRPr>
            </a:pPr>
            <a:r>
              <a:t>Which platforms lead by total sales and by number of titles?</a:t>
            </a:r>
          </a:p>
        </p:txBody>
      </p:sp>
      <p:sp>
        <p:nvSpPr>
          <p:cNvPr id="71" name="Oval 70"/>
          <p:cNvSpPr/>
          <p:nvPr/>
        </p:nvSpPr>
        <p:spPr>
          <a:xfrm>
            <a:off x="4709160" y="4626864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37176" y="4572000"/>
            <a:ext cx="363931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70" b="0" i="0">
                <a:solidFill>
                  <a:srgbClr val="5B4538"/>
                </a:solidFill>
                <a:latin typeface="Aptos"/>
              </a:defRPr>
            </a:pPr>
            <a:r>
              <a:t>Do sales distributions differ between regions?</a:t>
            </a:r>
          </a:p>
        </p:txBody>
      </p:sp>
      <p:sp>
        <p:nvSpPr>
          <p:cNvPr id="73" name="Oval 72"/>
          <p:cNvSpPr/>
          <p:nvPr/>
        </p:nvSpPr>
        <p:spPr>
          <a:xfrm>
            <a:off x="4709160" y="4974336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37176" y="4919472"/>
            <a:ext cx="363931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70" b="0" i="0">
                <a:solidFill>
                  <a:srgbClr val="5B4538"/>
                </a:solidFill>
                <a:latin typeface="Aptos"/>
              </a:defRPr>
            </a:pPr>
            <a:r>
              <a:t>How do release-year peaks compare with the number of games released?</a:t>
            </a:r>
          </a:p>
        </p:txBody>
      </p:sp>
      <p:sp>
        <p:nvSpPr>
          <p:cNvPr id="75" name="Oval 74"/>
          <p:cNvSpPr/>
          <p:nvPr/>
        </p:nvSpPr>
        <p:spPr>
          <a:xfrm>
            <a:off x="4709160" y="5321807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37176" y="5266944"/>
            <a:ext cx="3639312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70" b="0" i="0">
                <a:solidFill>
                  <a:srgbClr val="5B4538"/>
                </a:solidFill>
                <a:latin typeface="Aptos"/>
              </a:defRPr>
            </a:pPr>
            <a:r>
              <a:t>Are observations dominated by a few high-selling titles?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09160" y="5559552"/>
            <a:ext cx="3776472" cy="155448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73168" y="5591556"/>
            <a:ext cx="3639312" cy="91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570" b="1" i="0">
                <a:solidFill>
                  <a:srgbClr val="7E6C5E"/>
                </a:solidFill>
                <a:latin typeface="Aptos"/>
              </a:defRPr>
            </a:pPr>
            <a:r>
              <a:t>STATUS: COMPUTE AGGREGATES AFTER CSV IMPORT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Comparative &amp; Statistical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Test whether the visible differences are consistent and meaningful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417320"/>
            <a:ext cx="2880360" cy="1938528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00200"/>
            <a:ext cx="20574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KEY COMPARISON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0972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20" b="1" i="0">
                <a:solidFill>
                  <a:srgbClr val="7E6C5E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1920240"/>
            <a:ext cx="11430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20" b="1" i="0">
                <a:solidFill>
                  <a:srgbClr val="7E6C5E"/>
                </a:solidFill>
                <a:latin typeface="Aptos"/>
              </a:defRPr>
            </a:pPr>
            <a:r>
              <a:t>COMPARE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" y="2112264"/>
            <a:ext cx="2487168" cy="0"/>
          </a:xfrm>
          <a:prstGeom prst="line">
            <a:avLst/>
          </a:prstGeom>
          <a:ln w="762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194560"/>
            <a:ext cx="10058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5B4538"/>
                </a:solidFill>
                <a:latin typeface="Aptos"/>
              </a:defRPr>
            </a:pPr>
            <a:r>
              <a:t>Genre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6" y="2194560"/>
            <a:ext cx="1143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Global sales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" y="2395728"/>
            <a:ext cx="2487168" cy="0"/>
          </a:xfrm>
          <a:prstGeom prst="line">
            <a:avLst/>
          </a:prstGeom>
          <a:ln w="508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450591"/>
            <a:ext cx="10058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5B4538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2450591"/>
            <a:ext cx="1143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Global sales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9496" y="2651760"/>
            <a:ext cx="2487168" cy="0"/>
          </a:xfrm>
          <a:prstGeom prst="line">
            <a:avLst/>
          </a:prstGeom>
          <a:ln w="508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2706624"/>
            <a:ext cx="10058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5B4538"/>
                </a:solidFill>
                <a:latin typeface="Aptos"/>
              </a:defRPr>
            </a:pPr>
            <a:r>
              <a:t>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6" y="2706624"/>
            <a:ext cx="1143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Sales mix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" y="2907792"/>
            <a:ext cx="2487168" cy="0"/>
          </a:xfrm>
          <a:prstGeom prst="line">
            <a:avLst/>
          </a:prstGeom>
          <a:ln w="5080">
            <a:solidFill>
              <a:srgbClr val="F2D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2962656"/>
            <a:ext cx="100584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5B4538"/>
                </a:solidFill>
                <a:latin typeface="Aptos"/>
              </a:defRPr>
            </a:pPr>
            <a:r>
              <a:t>Sales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2496" y="2962656"/>
            <a:ext cx="1143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Game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1417320"/>
            <a:ext cx="2560320" cy="1938528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75304" y="1600200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POSSIBLE METHODS</a:t>
            </a:r>
          </a:p>
        </p:txBody>
      </p:sp>
      <p:sp>
        <p:nvSpPr>
          <p:cNvPr id="27" name="Oval 26"/>
          <p:cNvSpPr/>
          <p:nvPr/>
        </p:nvSpPr>
        <p:spPr>
          <a:xfrm>
            <a:off x="3593592" y="1911095"/>
            <a:ext cx="173736" cy="17373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3592" y="1943100"/>
            <a:ext cx="173736" cy="1005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5B3D8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1911095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Descriptive stats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066543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Sum, mean, median</a:t>
            </a:r>
          </a:p>
        </p:txBody>
      </p:sp>
      <p:sp>
        <p:nvSpPr>
          <p:cNvPr id="31" name="Oval 30"/>
          <p:cNvSpPr/>
          <p:nvPr/>
        </p:nvSpPr>
        <p:spPr>
          <a:xfrm>
            <a:off x="3593592" y="2240279"/>
            <a:ext cx="173736" cy="17373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2" y="2272284"/>
            <a:ext cx="173736" cy="1005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5B3D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2240279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Distribution checks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395727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Histogram / boxplot</a:t>
            </a:r>
          </a:p>
        </p:txBody>
      </p:sp>
      <p:sp>
        <p:nvSpPr>
          <p:cNvPr id="35" name="Oval 34"/>
          <p:cNvSpPr/>
          <p:nvPr/>
        </p:nvSpPr>
        <p:spPr>
          <a:xfrm>
            <a:off x="3593592" y="2569463"/>
            <a:ext cx="173736" cy="17373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2601468"/>
            <a:ext cx="173736" cy="1005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5B3D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2569463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Association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724911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Genre / platform vs class</a:t>
            </a:r>
          </a:p>
        </p:txBody>
      </p:sp>
      <p:sp>
        <p:nvSpPr>
          <p:cNvPr id="39" name="Oval 38"/>
          <p:cNvSpPr/>
          <p:nvPr/>
        </p:nvSpPr>
        <p:spPr>
          <a:xfrm>
            <a:off x="3593592" y="2898648"/>
            <a:ext cx="173736" cy="173736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93592" y="2930652"/>
            <a:ext cx="173736" cy="1005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1" i="0">
                <a:solidFill>
                  <a:srgbClr val="5B3D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2898648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1" i="0">
                <a:solidFill>
                  <a:srgbClr val="30191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3054096"/>
            <a:ext cx="178308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0" i="0">
                <a:solidFill>
                  <a:srgbClr val="5B4538"/>
                </a:solidFill>
                <a:latin typeface="Aptos"/>
              </a:defRPr>
            </a:pPr>
            <a:r>
              <a:t>F1, recall, accuracy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1417320"/>
            <a:ext cx="2670048" cy="1938528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1600200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RESULTS TO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1938528"/>
            <a:ext cx="1188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1" i="0">
                <a:solidFill>
                  <a:srgbClr val="5B4538"/>
                </a:solidFill>
                <a:latin typeface="Aptos"/>
              </a:defRPr>
            </a:pPr>
            <a:r>
              <a:t>Genre ranking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1938528"/>
            <a:ext cx="102412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0" i="0">
                <a:solidFill>
                  <a:srgbClr val="7E6C5E"/>
                </a:solidFill>
                <a:latin typeface="Aptos"/>
              </a:defRPr>
            </a:pPr>
            <a:r>
              <a:t>After EDA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09360" y="2167128"/>
            <a:ext cx="2249424" cy="0"/>
          </a:xfrm>
          <a:prstGeom prst="line">
            <a:avLst/>
          </a:prstGeom>
          <a:ln w="4445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309360" y="2249424"/>
            <a:ext cx="1188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1" i="0">
                <a:solidFill>
                  <a:srgbClr val="5B4538"/>
                </a:solidFill>
                <a:latin typeface="Aptos"/>
              </a:defRPr>
            </a:pPr>
            <a:r>
              <a:t>Platform ranking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2249424"/>
            <a:ext cx="102412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0" i="0">
                <a:solidFill>
                  <a:srgbClr val="7E6C5E"/>
                </a:solidFill>
                <a:latin typeface="Aptos"/>
              </a:defRPr>
            </a:pPr>
            <a:r>
              <a:t>After EDA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309360" y="2478024"/>
            <a:ext cx="2249424" cy="0"/>
          </a:xfrm>
          <a:prstGeom prst="line">
            <a:avLst/>
          </a:prstGeom>
          <a:ln w="4445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309360" y="2560320"/>
            <a:ext cx="1188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1" i="0">
                <a:solidFill>
                  <a:srgbClr val="5B4538"/>
                </a:solidFill>
                <a:latin typeface="Aptos"/>
              </a:defRPr>
            </a:pPr>
            <a:r>
              <a:t>Model baseline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16368" y="2560320"/>
            <a:ext cx="102412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0" i="0">
                <a:solidFill>
                  <a:srgbClr val="7E6C5E"/>
                </a:solidFill>
                <a:latin typeface="Aptos"/>
              </a:defRPr>
            </a:pPr>
            <a:r>
              <a:t>After training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309360" y="2788920"/>
            <a:ext cx="2249424" cy="0"/>
          </a:xfrm>
          <a:prstGeom prst="line">
            <a:avLst/>
          </a:prstGeom>
          <a:ln w="4445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309360" y="2871216"/>
            <a:ext cx="118872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1" i="0">
                <a:solidFill>
                  <a:srgbClr val="5B4538"/>
                </a:solidFill>
                <a:latin typeface="Aptos"/>
              </a:defRPr>
            </a:pPr>
            <a:r>
              <a:t>Test metrics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2871216"/>
            <a:ext cx="1024128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650" b="0" i="0">
                <a:solidFill>
                  <a:srgbClr val="7E6C5E"/>
                </a:solidFill>
                <a:latin typeface="Aptos"/>
              </a:defRPr>
            </a:pPr>
            <a:r>
              <a:t>Held-out set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09360" y="3099816"/>
            <a:ext cx="2249424" cy="0"/>
          </a:xfrm>
          <a:prstGeom prst="line">
            <a:avLst/>
          </a:prstGeom>
          <a:ln w="4445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47472" y="3566160"/>
            <a:ext cx="2880360" cy="2157984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3749039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SALES SUCCESS CLASS</a:t>
            </a:r>
          </a:p>
        </p:txBody>
      </p:sp>
      <p:sp>
        <p:nvSpPr>
          <p:cNvPr id="59" name="Oval 58"/>
          <p:cNvSpPr/>
          <p:nvPr/>
        </p:nvSpPr>
        <p:spPr>
          <a:xfrm>
            <a:off x="566928" y="4096512"/>
            <a:ext cx="329184" cy="329184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4178808"/>
            <a:ext cx="32918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AE3936"/>
                </a:solidFill>
                <a:latin typeface="Arial Narrow"/>
              </a:defRPr>
            </a:pPr>
            <a:r>
              <a:t>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" y="4114800"/>
            <a:ext cx="11430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ptos"/>
              </a:defRPr>
            </a:pPr>
            <a:r>
              <a:t>High-sales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" y="4343400"/>
            <a:ext cx="17830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Define a threshold from Global_Sales.</a:t>
            </a:r>
          </a:p>
        </p:txBody>
      </p:sp>
      <p:sp>
        <p:nvSpPr>
          <p:cNvPr id="63" name="Oval 62"/>
          <p:cNvSpPr/>
          <p:nvPr/>
        </p:nvSpPr>
        <p:spPr>
          <a:xfrm>
            <a:off x="566928" y="4736592"/>
            <a:ext cx="329184" cy="329184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4818888"/>
            <a:ext cx="329184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5B3D8B"/>
                </a:solidFill>
                <a:latin typeface="Arial Narrow"/>
              </a:defRPr>
            </a:pPr>
            <a:r>
              <a:t>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" y="4754880"/>
            <a:ext cx="11430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ptos"/>
              </a:defRPr>
            </a:pPr>
            <a:r>
              <a:t>Low-sales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4983480"/>
            <a:ext cx="17830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Document threshold and class balance.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6" y="5404104"/>
            <a:ext cx="24231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30" b="1" i="0">
                <a:solidFill>
                  <a:srgbClr val="AE3936"/>
                </a:solidFill>
                <a:latin typeface="Aptos"/>
              </a:defRPr>
            </a:pPr>
            <a:r>
              <a:t>Do not use Global_Sales as an input if it defines the target.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83280" y="3566160"/>
            <a:ext cx="2560320" cy="2157984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75304" y="3749039"/>
            <a:ext cx="16459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FEATURE GROUPS</a:t>
            </a:r>
          </a:p>
        </p:txBody>
      </p:sp>
      <p:sp>
        <p:nvSpPr>
          <p:cNvPr id="70" name="Oval 69"/>
          <p:cNvSpPr/>
          <p:nvPr/>
        </p:nvSpPr>
        <p:spPr>
          <a:xfrm>
            <a:off x="3703320" y="4160520"/>
            <a:ext cx="960120" cy="960120"/>
          </a:xfrm>
          <a:prstGeom prst="ellipse">
            <a:avLst/>
          </a:prstGeom>
          <a:solidFill>
            <a:srgbClr val="F2D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480560" y="4160520"/>
            <a:ext cx="960120" cy="960120"/>
          </a:xfrm>
          <a:prstGeom prst="ellipse">
            <a:avLst/>
          </a:prstGeom>
          <a:solidFill>
            <a:srgbClr val="DED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03904" y="4416552"/>
            <a:ext cx="713232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Genre /</a:t>
            </a:r>
            <a:br/>
            <a:r>
              <a:t>platform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81728" y="4416552"/>
            <a:ext cx="667512" cy="301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Publisher /</a:t>
            </a:r>
            <a:br/>
            <a:r>
              <a:t>year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80" y="5303520"/>
            <a:ext cx="212140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650" b="0" i="0">
                <a:solidFill>
                  <a:srgbClr val="5B4538"/>
                </a:solidFill>
                <a:latin typeface="Aptos"/>
              </a:defRPr>
            </a:pPr>
            <a:r>
              <a:t>Use only predictors known at the time of prediction.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08192" y="3566160"/>
            <a:ext cx="2670048" cy="2157984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91072" y="3749039"/>
            <a:ext cx="20116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INTERPRETATION RULES</a:t>
            </a:r>
          </a:p>
        </p:txBody>
      </p:sp>
      <p:sp>
        <p:nvSpPr>
          <p:cNvPr id="77" name="Oval 76"/>
          <p:cNvSpPr/>
          <p:nvPr/>
        </p:nvSpPr>
        <p:spPr>
          <a:xfrm>
            <a:off x="6309360" y="4151376"/>
            <a:ext cx="50292" cy="50292"/>
          </a:xfrm>
          <a:prstGeom prst="ellips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37376" y="4096512"/>
            <a:ext cx="2112264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Association is not causation.</a:t>
            </a:r>
          </a:p>
        </p:txBody>
      </p:sp>
      <p:sp>
        <p:nvSpPr>
          <p:cNvPr id="79" name="Oval 78"/>
          <p:cNvSpPr/>
          <p:nvPr/>
        </p:nvSpPr>
        <p:spPr>
          <a:xfrm>
            <a:off x="6309360" y="4498848"/>
            <a:ext cx="50292" cy="50292"/>
          </a:xfrm>
          <a:prstGeom prst="ellips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37376" y="4443984"/>
            <a:ext cx="2112264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Check class imbalance.</a:t>
            </a:r>
          </a:p>
        </p:txBody>
      </p:sp>
      <p:sp>
        <p:nvSpPr>
          <p:cNvPr id="81" name="Oval 80"/>
          <p:cNvSpPr/>
          <p:nvPr/>
        </p:nvSpPr>
        <p:spPr>
          <a:xfrm>
            <a:off x="6309360" y="4846320"/>
            <a:ext cx="50292" cy="50292"/>
          </a:xfrm>
          <a:prstGeom prst="ellips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37376" y="4791456"/>
            <a:ext cx="2112264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Split before fitting encoders.</a:t>
            </a:r>
          </a:p>
        </p:txBody>
      </p:sp>
      <p:sp>
        <p:nvSpPr>
          <p:cNvPr id="83" name="Oval 82"/>
          <p:cNvSpPr/>
          <p:nvPr/>
        </p:nvSpPr>
        <p:spPr>
          <a:xfrm>
            <a:off x="6309360" y="5193792"/>
            <a:ext cx="50292" cy="50292"/>
          </a:xfrm>
          <a:prstGeom prst="ellips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37376" y="5138928"/>
            <a:ext cx="2112264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Report limitations of historical data.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01168"/>
            <a:ext cx="512064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CONCLUSION &amp; FUTURE SCOPE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01583" y="256032"/>
            <a:ext cx="365761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8463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500" b="0" i="0">
                <a:solidFill>
                  <a:srgbClr val="301911"/>
                </a:solidFill>
                <a:latin typeface="Arial Narrow"/>
              </a:defRPr>
            </a:pPr>
            <a:r>
              <a:t>Key Findings, Limitations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What this project will establish after the selected CSV is analyzed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6473952"/>
            <a:ext cx="8412480" cy="0"/>
          </a:xfrm>
          <a:prstGeom prst="line">
            <a:avLst/>
          </a:prstGeom>
          <a:ln w="762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528816"/>
            <a:ext cx="6858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INTRODUCTION TO DATA SCIENCE  •  VIDEO GAME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1399032"/>
            <a:ext cx="1572768" cy="1499616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" y="157276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636776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AE393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947672"/>
            <a:ext cx="12984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rial Narrow"/>
              </a:defRPr>
            </a:pPr>
            <a:r>
              <a:t>Genre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1298448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Compare total and average sales by genre.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48256" y="1399032"/>
            <a:ext cx="1572768" cy="1499616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4560" y="157276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36776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5B3D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947672"/>
            <a:ext cx="12984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rial Narrow"/>
              </a:defRPr>
            </a:pPr>
            <a:r>
              <a:t>Platform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304288"/>
            <a:ext cx="1298448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Rank platforms using Global_Sales.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399032"/>
            <a:ext cx="1572768" cy="1499616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95344" y="157276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5344" y="1636776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AF7E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344" y="1947672"/>
            <a:ext cx="12984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rial Narrow"/>
              </a:defRPr>
            </a:pPr>
            <a:r>
              <a:t>Regional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5344" y="2304288"/>
            <a:ext cx="1298448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Contrast NA, EU, JP and other regions.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9824" y="1399032"/>
            <a:ext cx="1572768" cy="1499616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96128" y="157276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1636776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5B3D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1947672"/>
            <a:ext cx="12984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rial Narrow"/>
              </a:defRPr>
            </a:pPr>
            <a:r>
              <a:t>Model quality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2304288"/>
            <a:ext cx="1298448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Evaluate high/low sales classification.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1399032"/>
            <a:ext cx="1572768" cy="1499616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96912" y="1572768"/>
            <a:ext cx="283464" cy="2834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1636776"/>
            <a:ext cx="283464" cy="118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4A714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1947672"/>
            <a:ext cx="12984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900" b="1" i="0">
                <a:solidFill>
                  <a:srgbClr val="301911"/>
                </a:solidFill>
                <a:latin typeface="Arial Narrow"/>
              </a:defRPr>
            </a:pPr>
            <a:r>
              <a:t>Decision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304288"/>
            <a:ext cx="1298448" cy="4297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0" i="0">
                <a:solidFill>
                  <a:srgbClr val="5B4538"/>
                </a:solidFill>
                <a:latin typeface="Aptos"/>
              </a:defRPr>
            </a:pPr>
            <a:r>
              <a:t>Turn historical records into interpretable insights.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" y="3154680"/>
            <a:ext cx="2816352" cy="2560320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346704"/>
            <a:ext cx="22860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LIMITATIONS TO DISCUSS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3785615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730752"/>
            <a:ext cx="22037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Historical sales may not reflect current market behavior.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4206240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151376"/>
            <a:ext cx="22037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Missing year / publisher values can affect comparisons.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" y="4626864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572000"/>
            <a:ext cx="22037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Sales are not the same as profit or player engagement.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5047488"/>
            <a:ext cx="50292" cy="50292"/>
          </a:xfrm>
          <a:prstGeom prst="ellipse">
            <a:avLst/>
          </a:prstGeom>
          <a:solidFill>
            <a:srgbClr val="AE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992624"/>
            <a:ext cx="22037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Success predictions depend on threshold and features.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9272" y="3154680"/>
            <a:ext cx="2560320" cy="2560320"/>
          </a:xfrm>
          <a:prstGeom prst="roundRect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1296" y="3346704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6" name="Oval 45"/>
          <p:cNvSpPr/>
          <p:nvPr/>
        </p:nvSpPr>
        <p:spPr>
          <a:xfrm>
            <a:off x="3511296" y="3785615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3730752"/>
            <a:ext cx="19751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Tune and compare multiple classifiers.</a:t>
            </a:r>
          </a:p>
        </p:txBody>
      </p:sp>
      <p:sp>
        <p:nvSpPr>
          <p:cNvPr id="48" name="Oval 47"/>
          <p:cNvSpPr/>
          <p:nvPr/>
        </p:nvSpPr>
        <p:spPr>
          <a:xfrm>
            <a:off x="3511296" y="4206240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39312" y="4151376"/>
            <a:ext cx="19751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Add critic / user scores if present in the selected file.</a:t>
            </a:r>
          </a:p>
        </p:txBody>
      </p:sp>
      <p:sp>
        <p:nvSpPr>
          <p:cNvPr id="50" name="Oval 49"/>
          <p:cNvSpPr/>
          <p:nvPr/>
        </p:nvSpPr>
        <p:spPr>
          <a:xfrm>
            <a:off x="3511296" y="4626864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9312" y="4572000"/>
            <a:ext cx="19751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Test time-based validation.</a:t>
            </a:r>
          </a:p>
        </p:txBody>
      </p:sp>
      <p:sp>
        <p:nvSpPr>
          <p:cNvPr id="52" name="Oval 51"/>
          <p:cNvSpPr/>
          <p:nvPr/>
        </p:nvSpPr>
        <p:spPr>
          <a:xfrm>
            <a:off x="3511296" y="5047488"/>
            <a:ext cx="50292" cy="50292"/>
          </a:xfrm>
          <a:prstGeom prst="ellipse">
            <a:avLst/>
          </a:prstGeom>
          <a:solidFill>
            <a:srgbClr val="5B3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9312" y="4992624"/>
            <a:ext cx="1975103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20" b="0" i="0">
                <a:solidFill>
                  <a:srgbClr val="5B4538"/>
                </a:solidFill>
                <a:latin typeface="Aptos"/>
              </a:defRPr>
            </a:pPr>
            <a:r>
              <a:t>Create an interactive sales dashboard.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3154680"/>
            <a:ext cx="2743200" cy="2560320"/>
          </a:xfrm>
          <a:prstGeom prst="roundRect">
            <a:avLst/>
          </a:prstGeom>
          <a:solidFill>
            <a:srgbClr val="FFF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3346704"/>
            <a:ext cx="16459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4496" y="3703320"/>
            <a:ext cx="2304288" cy="786384"/>
          </a:xfrm>
          <a:prstGeom prst="roundRect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3922776"/>
            <a:ext cx="8412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AE3936"/>
                </a:solidFill>
                <a:latin typeface="Arial Narrow"/>
              </a:defRPr>
            </a:pPr>
            <a:r>
              <a:t>SALES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87768" y="3922776"/>
            <a:ext cx="219456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200" b="1" i="0">
                <a:solidFill>
                  <a:srgbClr val="7E6C5E"/>
                </a:solidFill>
                <a:latin typeface="Arial Narrow"/>
              </a:defRPr>
            </a:pPr>
            <a: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3922776"/>
            <a:ext cx="841248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1" i="0">
                <a:solidFill>
                  <a:srgbClr val="5B3D8B"/>
                </a:solidFill>
                <a:latin typeface="Arial Narrow"/>
              </a:defRPr>
            </a:pPr>
            <a:r>
              <a:t>INSIGHTS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4709160"/>
            <a:ext cx="2267712" cy="6766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50" b="0" i="0">
                <a:solidFill>
                  <a:srgbClr val="5B4538"/>
                </a:solidFill>
                <a:latin typeface="Arial Narrow"/>
              </a:defRPr>
            </a:pPr>
            <a:r>
              <a:t>EDA will reveal historical patterns; a carefully evaluated model can estimate sales categories, not guarantee future success.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54496" y="5486400"/>
            <a:ext cx="2304288" cy="164592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5522976"/>
            <a:ext cx="2194560" cy="91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560" b="1" i="0">
                <a:solidFill>
                  <a:srgbClr val="7E6C5E"/>
                </a:solidFill>
                <a:latin typeface="Aptos"/>
              </a:defRPr>
            </a:pPr>
            <a:r>
              <a:t>FINDINGS: FINALIZE AFTER RUNNING EDA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6419088"/>
            <a:ext cx="10835640" cy="10972"/>
          </a:xfrm>
          <a:prstGeom prst="rect">
            <a:avLst/>
          </a:prstGeom>
          <a:solidFill>
            <a:srgbClr val="374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6501384"/>
            <a:ext cx="6949440" cy="1645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defRPr sz="800" b="1">
                <a:solidFill>
                  <a:srgbClr val="7E6C5E"/>
                </a:solidFill>
                <a:latin typeface="Aptos"/>
              </a:defRPr>
            </a:pPr>
            <a:r>
              <a:t>INTRODUCTION TO DATA SCIENCE  •  PROJECT REVIEW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6492240"/>
            <a:ext cx="82296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defRPr sz="800" b="1">
                <a:solidFill>
                  <a:srgbClr val="7E6C5E"/>
                </a:solidFill>
                <a:latin typeface="Aptos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347472"/>
            <a:ext cx="18288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PROJECT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092440" y="256032"/>
            <a:ext cx="365760" cy="0"/>
          </a:xfrm>
          <a:prstGeom prst="line">
            <a:avLst/>
          </a:prstGeom>
          <a:ln w="1524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549640" y="155448"/>
            <a:ext cx="274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900" b="1" i="0">
                <a:solidFill>
                  <a:srgbClr val="7E6C5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417320"/>
            <a:ext cx="46634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3900" b="0" i="0">
                <a:solidFill>
                  <a:srgbClr val="301911"/>
                </a:solidFill>
                <a:latin typeface="Arial Narrow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33172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0" i="0">
                <a:solidFill>
                  <a:srgbClr val="5B4538"/>
                </a:solidFill>
                <a:latin typeface="Arial Narrow"/>
              </a:defRPr>
            </a:pPr>
            <a:r>
              <a:t>For your time and valuable feedback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" y="2907792"/>
            <a:ext cx="585216" cy="0"/>
          </a:xfrm>
          <a:prstGeom prst="line">
            <a:avLst/>
          </a:prstGeom>
          <a:ln w="15240">
            <a:solidFill>
              <a:srgbClr val="7E6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3246120"/>
            <a:ext cx="429768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00" b="0" i="0">
                <a:solidFill>
                  <a:srgbClr val="5B4538"/>
                </a:solidFill>
                <a:latin typeface="Arial Narrow"/>
              </a:defRPr>
            </a:pPr>
            <a:r>
              <a:t>We welcome your questions and suggestions</a:t>
            </a:r>
            <a:br/>
            <a:r>
              <a:t>for improving the analysis and prediction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4370832"/>
            <a:ext cx="4023360" cy="1143000"/>
          </a:xfrm>
          <a:prstGeom prst="roundRect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4663440"/>
            <a:ext cx="530352" cy="530352"/>
          </a:xfrm>
          <a:prstGeom prst="ellipse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73168"/>
            <a:ext cx="530352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700" b="1" i="0">
                <a:solidFill>
                  <a:srgbClr val="5B4538"/>
                </a:solidFill>
                <a:latin typeface="Arial Narrow"/>
              </a:defRPr>
            </a:pPr>
            <a:r>
              <a:t>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4553712"/>
            <a:ext cx="0" cy="804672"/>
          </a:xfrm>
          <a:prstGeom prst="line">
            <a:avLst/>
          </a:prstGeom>
          <a:ln w="889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36192" y="4572000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4800600"/>
            <a:ext cx="24688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000" b="1" i="0">
                <a:solidFill>
                  <a:srgbClr val="301911"/>
                </a:solidFill>
                <a:latin typeface="Arial Narrow"/>
              </a:defRPr>
            </a:pPr>
            <a:r>
              <a:t>[Your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5047488"/>
            <a:ext cx="2606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 i="0">
                <a:solidFill>
                  <a:srgbClr val="5B4538"/>
                </a:solidFill>
                <a:latin typeface="Aptos"/>
              </a:defRPr>
            </a:pPr>
            <a:r>
              <a:t>AI &amp; Data Science  •  [College Name]</a:t>
            </a:r>
          </a:p>
        </p:txBody>
      </p:sp>
      <p:sp>
        <p:nvSpPr>
          <p:cNvPr id="16" name="Oval 15"/>
          <p:cNvSpPr/>
          <p:nvPr/>
        </p:nvSpPr>
        <p:spPr>
          <a:xfrm>
            <a:off x="5632704" y="960120"/>
            <a:ext cx="2487168" cy="2487168"/>
          </a:xfrm>
          <a:prstGeom prst="ellipse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65392" y="1335024"/>
            <a:ext cx="1719072" cy="1719072"/>
          </a:xfrm>
          <a:prstGeom prst="ellipse">
            <a:avLst/>
          </a:prstGeom>
          <a:solidFill>
            <a:srgbClr val="F8D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3063240"/>
            <a:ext cx="3337560" cy="987552"/>
          </a:xfrm>
          <a:prstGeom prst="roundRect">
            <a:avLst/>
          </a:prstGeom>
          <a:solidFill>
            <a:srgbClr val="E8D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76672" y="3456432"/>
            <a:ext cx="3108960" cy="841248"/>
          </a:xfrm>
          <a:prstGeom prst="roundRect">
            <a:avLst/>
          </a:prstGeom>
          <a:solidFill>
            <a:srgbClr val="CDB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0" y="3822191"/>
            <a:ext cx="2852928" cy="612648"/>
          </a:xfrm>
          <a:prstGeom prst="roundRect">
            <a:avLst/>
          </a:prstGeom>
          <a:solidFill>
            <a:srgbClr val="998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246120"/>
            <a:ext cx="73152" cy="347472"/>
          </a:xfrm>
          <a:prstGeom prst="rect">
            <a:avLst/>
          </a:prstGeom>
          <a:solidFill>
            <a:srgbClr val="5B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8010144" y="2834640"/>
            <a:ext cx="237744" cy="365760"/>
          </a:xfrm>
          <a:prstGeom prst="triangl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8010144" y="3017520"/>
            <a:ext cx="237744" cy="365760"/>
          </a:xfrm>
          <a:prstGeom prst="triangle">
            <a:avLst/>
          </a:prstGeom>
          <a:solidFill>
            <a:srgbClr val="5B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8010144" y="3200400"/>
            <a:ext cx="237744" cy="365760"/>
          </a:xfrm>
          <a:prstGeom prst="triangl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7068" y="3575303"/>
            <a:ext cx="58521" cy="277977"/>
          </a:xfrm>
          <a:prstGeom prst="rect">
            <a:avLst/>
          </a:prstGeom>
          <a:solidFill>
            <a:srgbClr val="5B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7571231" y="3246120"/>
            <a:ext cx="190195" cy="292608"/>
          </a:xfrm>
          <a:prstGeom prst="triangl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7571231" y="3392424"/>
            <a:ext cx="190195" cy="292608"/>
          </a:xfrm>
          <a:prstGeom prst="triangle">
            <a:avLst/>
          </a:prstGeom>
          <a:solidFill>
            <a:srgbClr val="5B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7571231" y="3538728"/>
            <a:ext cx="190195" cy="292608"/>
          </a:xfrm>
          <a:prstGeom prst="triangl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20503" y="3821277"/>
            <a:ext cx="45354" cy="215432"/>
          </a:xfrm>
          <a:prstGeom prst="rect">
            <a:avLst/>
          </a:prstGeom>
          <a:solidFill>
            <a:srgbClr val="5B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7269480" y="3566160"/>
            <a:ext cx="147401" cy="226771"/>
          </a:xfrm>
          <a:prstGeom prst="triangl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7269480" y="3679545"/>
            <a:ext cx="147401" cy="226771"/>
          </a:xfrm>
          <a:prstGeom prst="triangle">
            <a:avLst/>
          </a:prstGeom>
          <a:solidFill>
            <a:srgbClr val="5B4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269480" y="3792931"/>
            <a:ext cx="147401" cy="226771"/>
          </a:xfrm>
          <a:prstGeom prst="triangle">
            <a:avLst/>
          </a:prstGeom>
          <a:solidFill>
            <a:srgbClr val="4A7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75504" y="4892040"/>
            <a:ext cx="347472" cy="347472"/>
          </a:xfrm>
          <a:prstGeom prst="ellipse">
            <a:avLst/>
          </a:prstGeom>
          <a:solidFill>
            <a:srgbClr val="F9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4974336"/>
            <a:ext cx="34747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AE3936"/>
                </a:solidFill>
                <a:latin typeface="Arial Narrow"/>
              </a:defRPr>
            </a:pPr>
            <a: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5321808"/>
            <a:ext cx="74980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IDEAS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4336" y="5532120"/>
            <a:ext cx="749808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0" i="0">
                <a:solidFill>
                  <a:srgbClr val="5B4538"/>
                </a:solidFill>
                <a:latin typeface="Arial Narrow"/>
              </a:defRPr>
            </a:pPr>
            <a:r>
              <a:t>Turned into</a:t>
            </a:r>
            <a:br/>
            <a:r>
              <a:t>questions</a:t>
            </a:r>
          </a:p>
        </p:txBody>
      </p:sp>
      <p:sp>
        <p:nvSpPr>
          <p:cNvPr id="37" name="Oval 36"/>
          <p:cNvSpPr/>
          <p:nvPr/>
        </p:nvSpPr>
        <p:spPr>
          <a:xfrm>
            <a:off x="6163056" y="4892040"/>
            <a:ext cx="347472" cy="347472"/>
          </a:xfrm>
          <a:prstGeom prst="ellipse">
            <a:avLst/>
          </a:prstGeom>
          <a:solidFill>
            <a:srgbClr val="EF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4974336"/>
            <a:ext cx="34747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5B3D8B"/>
                </a:solidFill>
                <a:latin typeface="Arial Narrow"/>
              </a:defRPr>
            </a:pPr>
            <a:r>
              <a:t>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5321808"/>
            <a:ext cx="74980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5532120"/>
            <a:ext cx="749808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0" i="0">
                <a:solidFill>
                  <a:srgbClr val="5B4538"/>
                </a:solidFill>
                <a:latin typeface="Arial Narrow"/>
              </a:defRPr>
            </a:pPr>
            <a:r>
              <a:t>Turned into</a:t>
            </a:r>
            <a:br/>
            <a:r>
              <a:t>patterns</a:t>
            </a:r>
          </a:p>
        </p:txBody>
      </p:sp>
      <p:sp>
        <p:nvSpPr>
          <p:cNvPr id="41" name="Oval 40"/>
          <p:cNvSpPr/>
          <p:nvPr/>
        </p:nvSpPr>
        <p:spPr>
          <a:xfrm>
            <a:off x="7150608" y="4892040"/>
            <a:ext cx="347472" cy="347472"/>
          </a:xfrm>
          <a:prstGeom prst="ellipse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4974336"/>
            <a:ext cx="34747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4A7146"/>
                </a:solidFill>
                <a:latin typeface="Arial Narrow"/>
              </a:defRPr>
            </a:pPr>
            <a:r>
              <a:t>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321808"/>
            <a:ext cx="74980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532120"/>
            <a:ext cx="749808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0" i="0">
                <a:solidFill>
                  <a:srgbClr val="5B4538"/>
                </a:solidFill>
                <a:latin typeface="Arial Narrow"/>
              </a:defRPr>
            </a:pPr>
            <a:r>
              <a:t>Turned into</a:t>
            </a:r>
            <a:br/>
            <a:r>
              <a:t>insights</a:t>
            </a:r>
          </a:p>
        </p:txBody>
      </p:sp>
      <p:sp>
        <p:nvSpPr>
          <p:cNvPr id="45" name="Oval 44"/>
          <p:cNvSpPr/>
          <p:nvPr/>
        </p:nvSpPr>
        <p:spPr>
          <a:xfrm>
            <a:off x="8138160" y="4892040"/>
            <a:ext cx="347472" cy="347472"/>
          </a:xfrm>
          <a:prstGeom prst="ellipse">
            <a:avLst/>
          </a:prstGeom>
          <a:solidFill>
            <a:srgbClr val="F5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974336"/>
            <a:ext cx="347472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 i="0">
                <a:solidFill>
                  <a:srgbClr val="AF7E3D"/>
                </a:solidFill>
                <a:latin typeface="Arial Narrow"/>
              </a:defRPr>
            </a:pPr>
            <a: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5321808"/>
            <a:ext cx="74980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 i="0">
                <a:solidFill>
                  <a:srgbClr val="7E6C5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5532120"/>
            <a:ext cx="749808" cy="3383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650" b="0" i="0">
                <a:solidFill>
                  <a:srgbClr val="5B4538"/>
                </a:solidFill>
                <a:latin typeface="Arial Narrow"/>
              </a:defRPr>
            </a:pPr>
            <a:r>
              <a:t>Turned into</a:t>
            </a:r>
            <a:br/>
            <a:r>
              <a:t>next steps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5989320"/>
            <a:ext cx="3840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00" b="0" i="1">
                <a:solidFill>
                  <a:srgbClr val="5B4538"/>
                </a:solidFill>
                <a:latin typeface="Arial Narrow"/>
              </a:defRPr>
            </a:pPr>
            <a:r>
              <a:t>“Data turns game sales into clearer questions and better decisions.”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263640" y="6291072"/>
            <a:ext cx="640080" cy="0"/>
          </a:xfrm>
          <a:prstGeom prst="line">
            <a:avLst/>
          </a:prstGeom>
          <a:ln w="10160">
            <a:solidFill>
              <a:srgbClr val="CBBE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