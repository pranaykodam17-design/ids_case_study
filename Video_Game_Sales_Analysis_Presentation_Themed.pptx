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543800" y="3794760"/>
            <a:ext cx="210312" cy="731520"/>
          </a:xfrm>
          <a:prstGeom prst="roundRect">
            <a:avLst/>
          </a:prstGeom>
          <a:solidFill>
            <a:srgbClr val="9D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982712" y="3291840"/>
            <a:ext cx="210312" cy="1234440"/>
          </a:xfrm>
          <a:prstGeom prst="roundRect">
            <a:avLst/>
          </a:prstGeom>
          <a:solidFill>
            <a:srgbClr val="9D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21624" y="2697480"/>
            <a:ext cx="210312" cy="1828800"/>
          </a:xfrm>
          <a:prstGeom prst="roundRect">
            <a:avLst/>
          </a:prstGeom>
          <a:solidFill>
            <a:srgbClr val="00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860536" y="3200400"/>
            <a:ext cx="210312" cy="1325880"/>
          </a:xfrm>
          <a:prstGeom prst="roundRect">
            <a:avLst/>
          </a:prstGeom>
          <a:solidFill>
            <a:srgbClr val="9D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299448" y="2057400"/>
            <a:ext cx="210312" cy="2468880"/>
          </a:xfrm>
          <a:prstGeom prst="roundRect">
            <a:avLst/>
          </a:prstGeom>
          <a:solidFill>
            <a:srgbClr val="00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738360" y="2606040"/>
            <a:ext cx="210312" cy="1920240"/>
          </a:xfrm>
          <a:prstGeom prst="roundRect">
            <a:avLst/>
          </a:prstGeom>
          <a:solidFill>
            <a:srgbClr val="9D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177272" y="1508760"/>
            <a:ext cx="210312" cy="3017520"/>
          </a:xfrm>
          <a:prstGeom prst="roundRect">
            <a:avLst/>
          </a:prstGeom>
          <a:solidFill>
            <a:srgbClr val="00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680960" y="914400"/>
            <a:ext cx="3017520" cy="3017520"/>
          </a:xfrm>
          <a:prstGeom prst="ellipse">
            <a:avLst/>
          </a:prstGeom>
          <a:noFill/>
          <a:ln w="20320">
            <a:solidFill>
              <a:srgbClr val="30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46720" y="1280160"/>
            <a:ext cx="2286000" cy="2286000"/>
          </a:xfrm>
          <a:prstGeom prst="ellipse">
            <a:avLst/>
          </a:prstGeom>
          <a:noFill/>
          <a:ln w="20320">
            <a:solidFill>
              <a:srgbClr val="9D6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80" y="1645920"/>
            <a:ext cx="1554480" cy="1554480"/>
          </a:xfrm>
          <a:prstGeom prst="ellipse">
            <a:avLst/>
          </a:prstGeom>
          <a:noFill/>
          <a:ln w="20320">
            <a:solidFill>
              <a:srgbClr val="00E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777240"/>
            <a:ext cx="47548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000" b="1">
                <a:solidFill>
                  <a:srgbClr val="00E6C8"/>
                </a:solidFill>
                <a:latin typeface="Aptos"/>
              </a:defRPr>
            </a:pPr>
            <a:r>
              <a:t>DATA SCIENCE /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1417320"/>
            <a:ext cx="6858000" cy="1508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3400" b="1">
                <a:solidFill>
                  <a:srgbClr val="F5F8FF"/>
                </a:solidFill>
                <a:latin typeface="Aptos"/>
              </a:defRPr>
            </a:pPr>
            <a:r>
              <a:t>VIDEO GAME SALES</a:t>
            </a:r>
            <a:br/>
            <a:r>
              <a:t>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108960"/>
            <a:ext cx="6675120" cy="10058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2300" b="1">
                <a:solidFill>
                  <a:srgbClr val="9D6DFF"/>
                </a:solidFill>
                <a:latin typeface="Aptos"/>
              </a:defRPr>
            </a:pPr>
            <a:r>
              <a:t>&amp; GENRE / PLATFORM</a:t>
            </a:r>
            <a:br/>
            <a:r>
              <a:t>SUCCESS PREDICTION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617720"/>
            <a:ext cx="5303520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800" b="0">
                <a:solidFill>
                  <a:srgbClr val="A6B4CC"/>
                </a:solidFill>
                <a:latin typeface="Aptos"/>
              </a:defRPr>
            </a:pPr>
            <a:r>
              <a:t>Introduction to Data Science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" y="5349240"/>
            <a:ext cx="4023360" cy="18288"/>
          </a:xfrm>
          <a:prstGeom prst="rect">
            <a:avLst/>
          </a:prstGeom>
          <a:solidFill>
            <a:srgbClr val="30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532120"/>
            <a:ext cx="621792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200" b="0">
                <a:solidFill>
                  <a:srgbClr val="F5F8FF"/>
                </a:solidFill>
                <a:latin typeface="Aptos"/>
              </a:defRPr>
            </a:pPr>
            <a:r>
              <a:t>Presented by: Your Name  •  AI &amp; Data Science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5715000"/>
            <a:ext cx="466344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defRPr sz="1000" b="1">
                <a:solidFill>
                  <a:srgbClr val="00E6C8"/>
                </a:solidFill>
                <a:latin typeface="Aptos"/>
              </a:defRPr>
            </a:pPr>
            <a:r>
              <a:t>INSIGHT  →  PATTERN  →  PREDICTION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0" y="310896"/>
            <a:ext cx="29260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defRPr sz="900" b="1">
                <a:solidFill>
                  <a:srgbClr val="00E6C8"/>
                </a:solidFill>
                <a:latin typeface="Aptos"/>
              </a:defRPr>
            </a:pPr>
            <a:r>
              <a:t>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6473952"/>
            <a:ext cx="10927080" cy="10972"/>
          </a:xfrm>
          <a:prstGeom prst="rect">
            <a:avLst/>
          </a:prstGeom>
          <a:solidFill>
            <a:srgbClr val="30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28816"/>
            <a:ext cx="502920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800" b="1">
                <a:solidFill>
                  <a:srgbClr val="A6B4CC"/>
                </a:solidFill>
                <a:latin typeface="Aptos"/>
              </a:defRPr>
            </a:pPr>
            <a:r>
              <a:t>INTRODUCTION TO DATA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510528"/>
            <a:ext cx="9144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defRPr sz="800" b="1">
                <a:solidFill>
                  <a:srgbClr val="A6B4CC"/>
                </a:solidFill>
                <a:latin typeface="Aptos"/>
              </a:defRPr>
            </a:pPr>
            <a:r>
              <a:t>02  /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94360"/>
            <a:ext cx="10789920" cy="5669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2800" b="1">
                <a:solidFill>
                  <a:srgbClr val="F5F8FF"/>
                </a:solidFill>
                <a:latin typeface="Aptos"/>
              </a:defRPr>
            </a:pPr>
            <a:r>
              <a:t>01  /  Introduction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261872"/>
            <a:ext cx="822960" cy="50292"/>
          </a:xfrm>
          <a:prstGeom prst="rect">
            <a:avLst/>
          </a:prstGeom>
          <a:solidFill>
            <a:srgbClr val="00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417320"/>
            <a:ext cx="1069848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300" b="0">
                <a:solidFill>
                  <a:srgbClr val="A6B4CC"/>
                </a:solidFill>
                <a:latin typeface="Aptos"/>
              </a:defRPr>
            </a:pPr>
            <a:r>
              <a:t>Turning gaming market data into useful decisions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965960"/>
            <a:ext cx="3429000" cy="2331720"/>
          </a:xfrm>
          <a:prstGeom prst="roundRect">
            <a:avLst/>
          </a:prstGeom>
          <a:solidFill>
            <a:srgbClr val="141D34"/>
          </a:solidFill>
          <a:ln w="12700">
            <a:solidFill>
              <a:srgbClr val="30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32688" y="2185415"/>
            <a:ext cx="54864" cy="1892807"/>
          </a:xfrm>
          <a:prstGeom prst="rect">
            <a:avLst/>
          </a:prstGeom>
          <a:solidFill>
            <a:srgbClr val="00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2167128"/>
            <a:ext cx="2862072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900" b="1">
                <a:solidFill>
                  <a:srgbClr val="00E6C8"/>
                </a:solidFill>
                <a:latin typeface="Aptos"/>
              </a:defRPr>
            </a:pPr>
            <a:r>
              <a:t>01 / INDUSTRY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2496312"/>
            <a:ext cx="28620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700" b="1">
                <a:solidFill>
                  <a:srgbClr val="F5F8FF"/>
                </a:solidFill>
                <a:latin typeface="Aptos"/>
              </a:defRPr>
            </a:pPr>
            <a:r>
              <a:t>A data-rich market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2953512"/>
            <a:ext cx="2862072" cy="1234439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200" b="0">
                <a:solidFill>
                  <a:srgbClr val="A6B4CC"/>
                </a:solidFill>
                <a:latin typeface="Aptos"/>
              </a:defRPr>
            </a:pPr>
            <a:r>
              <a:t>Video games generate sales data across genres, platforms, regions, and release years.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1965960"/>
            <a:ext cx="3429000" cy="2331720"/>
          </a:xfrm>
          <a:prstGeom prst="roundRect">
            <a:avLst/>
          </a:prstGeom>
          <a:solidFill>
            <a:srgbClr val="141D34"/>
          </a:solidFill>
          <a:ln w="12700">
            <a:solidFill>
              <a:srgbClr val="30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90288" y="2185415"/>
            <a:ext cx="54864" cy="1892807"/>
          </a:xfrm>
          <a:prstGeom prst="rect">
            <a:avLst/>
          </a:prstGeom>
          <a:solidFill>
            <a:srgbClr val="9D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73168" y="2167128"/>
            <a:ext cx="2862072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900" b="1">
                <a:solidFill>
                  <a:srgbClr val="9D6DFF"/>
                </a:solidFill>
                <a:latin typeface="Aptos"/>
              </a:defRPr>
            </a:pPr>
            <a:r>
              <a:t>02 / QUESTION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2496312"/>
            <a:ext cx="28620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700" b="1">
                <a:solidFill>
                  <a:srgbClr val="F5F8FF"/>
                </a:solidFill>
                <a:latin typeface="Aptos"/>
              </a:defRPr>
            </a:pPr>
            <a:r>
              <a:t>What performs well?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3168" y="2953512"/>
            <a:ext cx="2862072" cy="1234439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200" b="0">
                <a:solidFill>
                  <a:srgbClr val="A6B4CC"/>
                </a:solidFill>
                <a:latin typeface="Aptos"/>
              </a:defRPr>
            </a:pPr>
            <a:r>
              <a:t>Explore which genres and platforms are associated with stronger sales.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1965960"/>
            <a:ext cx="3429000" cy="2331720"/>
          </a:xfrm>
          <a:prstGeom prst="roundRect">
            <a:avLst/>
          </a:prstGeom>
          <a:solidFill>
            <a:srgbClr val="141D34"/>
          </a:solidFill>
          <a:ln w="12700">
            <a:solidFill>
              <a:srgbClr val="30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47888" y="2185415"/>
            <a:ext cx="54864" cy="1892807"/>
          </a:xfrm>
          <a:prstGeom prst="rect">
            <a:avLst/>
          </a:prstGeom>
          <a:solidFill>
            <a:srgbClr val="FFD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30768" y="2167128"/>
            <a:ext cx="2862072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900" b="1">
                <a:solidFill>
                  <a:srgbClr val="FFD25C"/>
                </a:solidFill>
                <a:latin typeface="Aptos"/>
              </a:defRPr>
            </a:pPr>
            <a:r>
              <a:t>03 / APPROACH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0768" y="2496312"/>
            <a:ext cx="28620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700" b="1">
                <a:solidFill>
                  <a:srgbClr val="F5F8FF"/>
                </a:solidFill>
                <a:latin typeface="Aptos"/>
              </a:defRPr>
            </a:pPr>
            <a:r>
              <a:t>Analyze + predict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0768" y="2953512"/>
            <a:ext cx="2862072" cy="1234439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200" b="0">
                <a:solidFill>
                  <a:srgbClr val="A6B4CC"/>
                </a:solidFill>
                <a:latin typeface="Aptos"/>
              </a:defRPr>
            </a:pPr>
            <a:r>
              <a:t>Use exploratory data analysis and a simple machine-learning model.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800600"/>
            <a:ext cx="182880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000" b="1">
                <a:solidFill>
                  <a:srgbClr val="00E6C8"/>
                </a:solidFill>
                <a:latin typeface="Aptos"/>
              </a:defRPr>
            </a:pPr>
            <a:r>
              <a:t>PROJECT GOAL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166360"/>
            <a:ext cx="10241280" cy="6400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2100" b="1">
                <a:solidFill>
                  <a:srgbClr val="F5F8FF"/>
                </a:solidFill>
                <a:latin typeface="Aptos"/>
              </a:defRPr>
            </a:pPr>
            <a:r>
              <a:t>Understand sales patterns and estimate whether a game falls into a high-sales or low-sales category.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0" y="310896"/>
            <a:ext cx="29260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defRPr sz="900" b="1">
                <a:solidFill>
                  <a:srgbClr val="00E6C8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6473952"/>
            <a:ext cx="10927080" cy="10972"/>
          </a:xfrm>
          <a:prstGeom prst="rect">
            <a:avLst/>
          </a:prstGeom>
          <a:solidFill>
            <a:srgbClr val="30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28816"/>
            <a:ext cx="502920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800" b="1">
                <a:solidFill>
                  <a:srgbClr val="A6B4CC"/>
                </a:solidFill>
                <a:latin typeface="Aptos"/>
              </a:defRPr>
            </a:pPr>
            <a:r>
              <a:t>INTRODUCTION TO DATA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510528"/>
            <a:ext cx="9144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defRPr sz="800" b="1">
                <a:solidFill>
                  <a:srgbClr val="A6B4CC"/>
                </a:solidFill>
                <a:latin typeface="Aptos"/>
              </a:defRPr>
            </a:pPr>
            <a:r>
              <a:t>03  /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94360"/>
            <a:ext cx="10789920" cy="5669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2800" b="1">
                <a:solidFill>
                  <a:srgbClr val="F5F8FF"/>
                </a:solidFill>
                <a:latin typeface="Aptos"/>
              </a:defRPr>
            </a:pPr>
            <a:r>
              <a:t>02  /  Problem Statement &amp; Objectives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261872"/>
            <a:ext cx="822960" cy="50292"/>
          </a:xfrm>
          <a:prstGeom prst="rect">
            <a:avLst/>
          </a:prstGeom>
          <a:solidFill>
            <a:srgbClr val="00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5120640" cy="1417320"/>
          </a:xfrm>
          <a:prstGeom prst="roundRect">
            <a:avLst/>
          </a:prstGeom>
          <a:solidFill>
            <a:srgbClr val="141D34"/>
          </a:solidFill>
          <a:ln w="12700">
            <a:solidFill>
              <a:srgbClr val="30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74519"/>
            <a:ext cx="43891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000" b="1">
                <a:solidFill>
                  <a:srgbClr val="00E6C8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12848"/>
            <a:ext cx="4480560" cy="5943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900" b="1">
                <a:solidFill>
                  <a:srgbClr val="F5F8FF"/>
                </a:solidFill>
                <a:latin typeface="Aptos"/>
              </a:defRPr>
            </a:pPr>
            <a:r>
              <a:t>Which genres and platforms are linked with higher game sales?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645920"/>
            <a:ext cx="5120640" cy="1417320"/>
          </a:xfrm>
          <a:prstGeom prst="roundRect">
            <a:avLst/>
          </a:prstGeom>
          <a:solidFill>
            <a:srgbClr val="141D34"/>
          </a:solidFill>
          <a:ln w="12700">
            <a:solidFill>
              <a:srgbClr val="30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874519"/>
            <a:ext cx="43891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000" b="1">
                <a:solidFill>
                  <a:srgbClr val="9D6DFF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212848"/>
            <a:ext cx="4480560" cy="5943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800" b="1">
                <a:solidFill>
                  <a:srgbClr val="F5F8FF"/>
                </a:solidFill>
                <a:latin typeface="Aptos"/>
              </a:defRPr>
            </a:pPr>
            <a:r>
              <a:t>Find trends, compare categories, and build a basic success classifier.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520440"/>
            <a:ext cx="3429000" cy="1645920"/>
          </a:xfrm>
          <a:prstGeom prst="roundRect">
            <a:avLst/>
          </a:prstGeom>
          <a:solidFill>
            <a:srgbClr val="141D34"/>
          </a:solidFill>
          <a:ln w="12700">
            <a:solidFill>
              <a:srgbClr val="30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78408" y="3739896"/>
            <a:ext cx="54864" cy="1207008"/>
          </a:xfrm>
          <a:prstGeom prst="rect">
            <a:avLst/>
          </a:prstGeom>
          <a:solidFill>
            <a:srgbClr val="00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61288" y="3721608"/>
            <a:ext cx="2862072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900" b="1">
                <a:solidFill>
                  <a:srgbClr val="00E6C8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1288" y="4050791"/>
            <a:ext cx="28620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700" b="1">
                <a:solidFill>
                  <a:srgbClr val="F5F8FF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4507992"/>
            <a:ext cx="2862072" cy="5486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200" b="0">
                <a:solidFill>
                  <a:srgbClr val="A6B4CC"/>
                </a:solidFill>
                <a:latin typeface="Aptos"/>
              </a:defRPr>
            </a:pPr>
            <a:r>
              <a:t>Find top-selling games and genres.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3520440"/>
            <a:ext cx="3429000" cy="1645920"/>
          </a:xfrm>
          <a:prstGeom prst="roundRect">
            <a:avLst/>
          </a:prstGeom>
          <a:solidFill>
            <a:srgbClr val="141D34"/>
          </a:solidFill>
          <a:ln w="12700">
            <a:solidFill>
              <a:srgbClr val="30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73168" y="3739896"/>
            <a:ext cx="54864" cy="1207008"/>
          </a:xfrm>
          <a:prstGeom prst="rect">
            <a:avLst/>
          </a:prstGeom>
          <a:solidFill>
            <a:srgbClr val="9D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56048" y="3721608"/>
            <a:ext cx="2862072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900" b="1">
                <a:solidFill>
                  <a:srgbClr val="9D6D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56048" y="4050791"/>
            <a:ext cx="28620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700" b="1">
                <a:solidFill>
                  <a:srgbClr val="F5F8FF"/>
                </a:solidFill>
                <a:latin typeface="Aptos"/>
              </a:defRPr>
            </a:pPr>
            <a:r>
              <a:t>COMPARE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56048" y="4507992"/>
            <a:ext cx="2862072" cy="5486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200" b="0">
                <a:solidFill>
                  <a:srgbClr val="A6B4CC"/>
                </a:solidFill>
                <a:latin typeface="Aptos"/>
              </a:defRPr>
            </a:pPr>
            <a:r>
              <a:t>Study platform and regional sales.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66760" y="3520440"/>
            <a:ext cx="3429000" cy="1645920"/>
          </a:xfrm>
          <a:prstGeom prst="roundRect">
            <a:avLst/>
          </a:prstGeom>
          <a:solidFill>
            <a:srgbClr val="141D34"/>
          </a:solidFill>
          <a:ln w="12700">
            <a:solidFill>
              <a:srgbClr val="30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567928" y="3739896"/>
            <a:ext cx="54864" cy="1207008"/>
          </a:xfrm>
          <a:prstGeom prst="rect">
            <a:avLst/>
          </a:prstGeom>
          <a:solidFill>
            <a:srgbClr val="FFD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50808" y="3721608"/>
            <a:ext cx="2862072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900" b="1">
                <a:solidFill>
                  <a:srgbClr val="FFD25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50808" y="4050791"/>
            <a:ext cx="28620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700" b="1">
                <a:solidFill>
                  <a:srgbClr val="F5F8FF"/>
                </a:solidFill>
                <a:latin typeface="Aptos"/>
              </a:defRPr>
            </a:pPr>
            <a:r>
              <a:t>PREDICT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50808" y="4507992"/>
            <a:ext cx="2862072" cy="5486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200" b="0">
                <a:solidFill>
                  <a:srgbClr val="A6B4CC"/>
                </a:solidFill>
                <a:latin typeface="Aptos"/>
              </a:defRPr>
            </a:pPr>
            <a:r>
              <a:t>Estimate high- vs low-sales class.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0" y="310896"/>
            <a:ext cx="29260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defRPr sz="900" b="1">
                <a:solidFill>
                  <a:srgbClr val="00E6C8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6473952"/>
            <a:ext cx="10927080" cy="10972"/>
          </a:xfrm>
          <a:prstGeom prst="rect">
            <a:avLst/>
          </a:prstGeom>
          <a:solidFill>
            <a:srgbClr val="30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28816"/>
            <a:ext cx="502920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800" b="1">
                <a:solidFill>
                  <a:srgbClr val="A6B4CC"/>
                </a:solidFill>
                <a:latin typeface="Aptos"/>
              </a:defRPr>
            </a:pPr>
            <a:r>
              <a:t>INTRODUCTION TO DATA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510528"/>
            <a:ext cx="9144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defRPr sz="800" b="1">
                <a:solidFill>
                  <a:srgbClr val="A6B4CC"/>
                </a:solidFill>
                <a:latin typeface="Aptos"/>
              </a:defRPr>
            </a:pPr>
            <a:r>
              <a:t>04  /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94360"/>
            <a:ext cx="10789920" cy="5669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2800" b="1">
                <a:solidFill>
                  <a:srgbClr val="F5F8FF"/>
                </a:solidFill>
                <a:latin typeface="Aptos"/>
              </a:defRPr>
            </a:pPr>
            <a:r>
              <a:t>03  /  Dataset Description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261872"/>
            <a:ext cx="822960" cy="50292"/>
          </a:xfrm>
          <a:prstGeom prst="rect">
            <a:avLst/>
          </a:prstGeom>
          <a:solidFill>
            <a:srgbClr val="00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417320"/>
            <a:ext cx="1069848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300" b="0">
                <a:solidFill>
                  <a:srgbClr val="A6B4CC"/>
                </a:solidFill>
                <a:latin typeface="Aptos"/>
              </a:defRPr>
            </a:pPr>
            <a:r>
              <a:t>Suggested source: a public Video Game Sales dataset, such as a Kaggle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74519"/>
            <a:ext cx="6583680" cy="347472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>
              <a:spcAft>
                <a:spcPts val="1800"/>
              </a:spcAft>
              <a:defRPr sz="1700">
                <a:solidFill>
                  <a:srgbClr val="F5F8FF"/>
                </a:solidFill>
                <a:latin typeface="Aptos"/>
              </a:defRPr>
            </a:pPr>
            <a:r>
              <a:t>●   Game details: Name, Platform, Genre, Publisher, and release Year.</a:t>
            </a:r>
          </a:p>
          <a:p>
            <a:pPr>
              <a:spcAft>
                <a:spcPts val="1800"/>
              </a:spcAft>
              <a:defRPr sz="1700">
                <a:solidFill>
                  <a:srgbClr val="F5F8FF"/>
                </a:solidFill>
                <a:latin typeface="Aptos"/>
              </a:defRPr>
            </a:pPr>
            <a:r>
              <a:t>●   Regional sales: North America, Europe, Japan, and Other regions.</a:t>
            </a:r>
          </a:p>
          <a:p>
            <a:pPr>
              <a:spcAft>
                <a:spcPts val="1800"/>
              </a:spcAft>
              <a:defRPr sz="1700">
                <a:solidFill>
                  <a:srgbClr val="F5F8FF"/>
                </a:solidFill>
                <a:latin typeface="Aptos"/>
              </a:defRPr>
            </a:pPr>
            <a:r>
              <a:t>●   Global_Sales represents worldwide sales, commonly in millions of units.</a:t>
            </a:r>
          </a:p>
          <a:p>
            <a:pPr>
              <a:spcAft>
                <a:spcPts val="1800"/>
              </a:spcAft>
              <a:defRPr sz="1700">
                <a:solidFill>
                  <a:srgbClr val="F5F8FF"/>
                </a:solidFill>
                <a:latin typeface="Aptos"/>
              </a:defRPr>
            </a:pPr>
            <a:r>
              <a:t>●   Dataset versions can differ in size, columns, and missing values.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828800"/>
            <a:ext cx="3383280" cy="1143000"/>
          </a:xfrm>
          <a:prstGeom prst="roundRect">
            <a:avLst/>
          </a:prstGeom>
          <a:solidFill>
            <a:srgbClr val="141D34"/>
          </a:solidFill>
          <a:ln w="12700">
            <a:solidFill>
              <a:srgbClr val="30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19288" y="2048256"/>
            <a:ext cx="54864" cy="704088"/>
          </a:xfrm>
          <a:prstGeom prst="rect">
            <a:avLst/>
          </a:prstGeom>
          <a:solidFill>
            <a:srgbClr val="00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2168" y="2029968"/>
            <a:ext cx="2816352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900" b="1">
                <a:solidFill>
                  <a:srgbClr val="00E6C8"/>
                </a:solidFill>
                <a:latin typeface="Aptos"/>
              </a:defRPr>
            </a:pPr>
            <a:r>
              <a:t>FEATURE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2168" y="2359152"/>
            <a:ext cx="281635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700" b="1">
                <a:solidFill>
                  <a:srgbClr val="F5F8FF"/>
                </a:solidFill>
                <a:latin typeface="Aptos"/>
              </a:defRPr>
            </a:pPr>
            <a:r>
              <a:t>Genre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2168" y="2816352"/>
            <a:ext cx="2816352" cy="457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200" b="0">
                <a:solidFill>
                  <a:srgbClr val="A6B4CC"/>
                </a:solidFill>
                <a:latin typeface="Aptos"/>
              </a:defRPr>
            </a:pPr>
            <a:r>
              <a:t>Action, Sports, Role-Playing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3200400"/>
            <a:ext cx="3383280" cy="1143000"/>
          </a:xfrm>
          <a:prstGeom prst="roundRect">
            <a:avLst/>
          </a:prstGeom>
          <a:solidFill>
            <a:srgbClr val="141D34"/>
          </a:solidFill>
          <a:ln w="12700">
            <a:solidFill>
              <a:srgbClr val="30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19288" y="3419856"/>
            <a:ext cx="54864" cy="704088"/>
          </a:xfrm>
          <a:prstGeom prst="rect">
            <a:avLst/>
          </a:prstGeom>
          <a:solidFill>
            <a:srgbClr val="9D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02168" y="3401568"/>
            <a:ext cx="2816352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900" b="1">
                <a:solidFill>
                  <a:srgbClr val="9D6DFF"/>
                </a:solidFill>
                <a:latin typeface="Aptos"/>
              </a:defRPr>
            </a:pPr>
            <a:r>
              <a:t>FEATURE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8" y="3730752"/>
            <a:ext cx="281635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700" b="1">
                <a:solidFill>
                  <a:srgbClr val="F5F8FF"/>
                </a:solidFill>
                <a:latin typeface="Aptos"/>
              </a:defRPr>
            </a:pPr>
            <a: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2168" y="4187952"/>
            <a:ext cx="2816352" cy="457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200" b="0">
                <a:solidFill>
                  <a:srgbClr val="A6B4CC"/>
                </a:solidFill>
                <a:latin typeface="Aptos"/>
              </a:defRPr>
            </a:pPr>
            <a:r>
              <a:t>Console or PC platform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8120" y="4572000"/>
            <a:ext cx="3383280" cy="1143000"/>
          </a:xfrm>
          <a:prstGeom prst="roundRect">
            <a:avLst/>
          </a:prstGeom>
          <a:solidFill>
            <a:srgbClr val="141D34"/>
          </a:solidFill>
          <a:ln w="12700">
            <a:solidFill>
              <a:srgbClr val="30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19288" y="4791456"/>
            <a:ext cx="54864" cy="704088"/>
          </a:xfrm>
          <a:prstGeom prst="rect">
            <a:avLst/>
          </a:prstGeom>
          <a:solidFill>
            <a:srgbClr val="FFD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02168" y="4773168"/>
            <a:ext cx="2816352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900" b="1">
                <a:solidFill>
                  <a:srgbClr val="FFD25C"/>
                </a:solidFill>
                <a:latin typeface="Aptos"/>
              </a:defRPr>
            </a:pPr>
            <a:r>
              <a:t>TARGET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02168" y="5102352"/>
            <a:ext cx="281635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700" b="1">
                <a:solidFill>
                  <a:srgbClr val="F5F8FF"/>
                </a:solidFill>
                <a:latin typeface="Aptos"/>
              </a:defRPr>
            </a:pPr>
            <a:r>
              <a:t>Sales class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2168" y="5559552"/>
            <a:ext cx="2816352" cy="457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200" b="0">
                <a:solidFill>
                  <a:srgbClr val="A6B4CC"/>
                </a:solidFill>
                <a:latin typeface="Aptos"/>
              </a:defRPr>
            </a:pPr>
            <a:r>
              <a:t>High sales / low sales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0" y="310896"/>
            <a:ext cx="29260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defRPr sz="900" b="1">
                <a:solidFill>
                  <a:srgbClr val="00E6C8"/>
                </a:solidFill>
                <a:latin typeface="Aptos"/>
              </a:defRPr>
            </a:pPr>
            <a:r>
              <a:t>METHOD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6473952"/>
            <a:ext cx="10927080" cy="10972"/>
          </a:xfrm>
          <a:prstGeom prst="rect">
            <a:avLst/>
          </a:prstGeom>
          <a:solidFill>
            <a:srgbClr val="30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28816"/>
            <a:ext cx="502920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800" b="1">
                <a:solidFill>
                  <a:srgbClr val="A6B4CC"/>
                </a:solidFill>
                <a:latin typeface="Aptos"/>
              </a:defRPr>
            </a:pPr>
            <a:r>
              <a:t>INTRODUCTION TO DATA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510528"/>
            <a:ext cx="9144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defRPr sz="800" b="1">
                <a:solidFill>
                  <a:srgbClr val="A6B4CC"/>
                </a:solidFill>
                <a:latin typeface="Aptos"/>
              </a:defRPr>
            </a:pPr>
            <a:r>
              <a:t>05  /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94360"/>
            <a:ext cx="10789920" cy="5669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2800" b="1">
                <a:solidFill>
                  <a:srgbClr val="F5F8FF"/>
                </a:solidFill>
                <a:latin typeface="Aptos"/>
              </a:defRPr>
            </a:pPr>
            <a:r>
              <a:t>04  /  Data Science Workflow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261872"/>
            <a:ext cx="822960" cy="50292"/>
          </a:xfrm>
          <a:prstGeom prst="rect">
            <a:avLst/>
          </a:prstGeom>
          <a:solidFill>
            <a:srgbClr val="00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417320"/>
            <a:ext cx="1069848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300" b="0">
                <a:solidFill>
                  <a:srgbClr val="A6B4CC"/>
                </a:solidFill>
                <a:latin typeface="Aptos"/>
              </a:defRPr>
            </a:pPr>
            <a:r>
              <a:t>A repeatable pipeline from raw data to model evaluation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286000"/>
            <a:ext cx="2011680" cy="1828800"/>
          </a:xfrm>
          <a:prstGeom prst="roundRect">
            <a:avLst/>
          </a:prstGeom>
          <a:solidFill>
            <a:srgbClr val="141D34"/>
          </a:solidFill>
          <a:ln w="12700">
            <a:solidFill>
              <a:srgbClr val="30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487168"/>
            <a:ext cx="54864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200" b="1">
                <a:solidFill>
                  <a:srgbClr val="00E6C8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26080"/>
            <a:ext cx="169164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Aptos"/>
              </a:defRPr>
            </a:pPr>
            <a:r>
              <a:t>COLLECT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429000"/>
            <a:ext cx="1691640" cy="502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100" b="0">
                <a:solidFill>
                  <a:srgbClr val="A6B4CC"/>
                </a:solidFill>
                <a:latin typeface="Aptos"/>
              </a:defRPr>
            </a:pPr>
            <a:r>
              <a:t>Load CSV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24328" y="2926080"/>
            <a:ext cx="27432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2000" b="1">
                <a:solidFill>
                  <a:srgbClr val="00E6C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26079" y="2286000"/>
            <a:ext cx="2011680" cy="1828800"/>
          </a:xfrm>
          <a:prstGeom prst="roundRect">
            <a:avLst/>
          </a:prstGeom>
          <a:solidFill>
            <a:srgbClr val="141D34"/>
          </a:solidFill>
          <a:ln w="12700">
            <a:solidFill>
              <a:srgbClr val="30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8960" y="2487168"/>
            <a:ext cx="54864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200" b="1">
                <a:solidFill>
                  <a:srgbClr val="9D6D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2926080"/>
            <a:ext cx="169164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Aptos"/>
              </a:defRPr>
            </a:pPr>
            <a:r>
              <a:t>CLEAN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429000"/>
            <a:ext cx="1691640" cy="502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100" b="0">
                <a:solidFill>
                  <a:srgbClr val="A6B4CC"/>
                </a:solidFill>
                <a:latin typeface="Aptos"/>
              </a:defRPr>
            </a:pPr>
            <a:r>
              <a:t>Fix missing / duplicate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56048" y="2926080"/>
            <a:ext cx="27432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2000" b="1">
                <a:solidFill>
                  <a:srgbClr val="00E6C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57800" y="2286000"/>
            <a:ext cx="2011680" cy="1828800"/>
          </a:xfrm>
          <a:prstGeom prst="roundRect">
            <a:avLst/>
          </a:prstGeom>
          <a:solidFill>
            <a:srgbClr val="141D34"/>
          </a:solidFill>
          <a:ln w="12700">
            <a:solidFill>
              <a:srgbClr val="30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2487168"/>
            <a:ext cx="54864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200" b="1">
                <a:solidFill>
                  <a:srgbClr val="00E6C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0680" y="2926080"/>
            <a:ext cx="169164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Aptos"/>
              </a:defRPr>
            </a:pPr>
            <a:r>
              <a:t>EXPLORE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40680" y="3429000"/>
            <a:ext cx="1691640" cy="502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100" b="0">
                <a:solidFill>
                  <a:srgbClr val="A6B4CC"/>
                </a:solidFill>
                <a:latin typeface="Aptos"/>
              </a:defRPr>
            </a:pPr>
            <a:r>
              <a:t>Charts and summaries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87768" y="2926080"/>
            <a:ext cx="27432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2000" b="1">
                <a:solidFill>
                  <a:srgbClr val="00E6C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89519" y="2286000"/>
            <a:ext cx="2011680" cy="1828800"/>
          </a:xfrm>
          <a:prstGeom prst="roundRect">
            <a:avLst/>
          </a:prstGeom>
          <a:solidFill>
            <a:srgbClr val="141D34"/>
          </a:solidFill>
          <a:ln w="12700">
            <a:solidFill>
              <a:srgbClr val="30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399" y="2487168"/>
            <a:ext cx="54864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200" b="1">
                <a:solidFill>
                  <a:srgbClr val="9D6D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399" y="2926080"/>
            <a:ext cx="169164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Aptos"/>
              </a:defRPr>
            </a:pPr>
            <a:r>
              <a:t>TRAIN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399" y="3429000"/>
            <a:ext cx="1691640" cy="502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100" b="0">
                <a:solidFill>
                  <a:srgbClr val="A6B4CC"/>
                </a:solidFill>
                <a:latin typeface="Aptos"/>
              </a:defRPr>
            </a:pPr>
            <a:r>
              <a:t>Fit classifier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19488" y="2926080"/>
            <a:ext cx="274320" cy="3657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2000" b="1">
                <a:solidFill>
                  <a:srgbClr val="00E6C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21240" y="2286000"/>
            <a:ext cx="2011680" cy="1828800"/>
          </a:xfrm>
          <a:prstGeom prst="roundRect">
            <a:avLst/>
          </a:prstGeom>
          <a:solidFill>
            <a:srgbClr val="141D34"/>
          </a:solidFill>
          <a:ln w="12700">
            <a:solidFill>
              <a:srgbClr val="30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04119" y="2487168"/>
            <a:ext cx="54864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200" b="1">
                <a:solidFill>
                  <a:srgbClr val="00E6C8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19" y="2926080"/>
            <a:ext cx="169164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Aptos"/>
              </a:defRPr>
            </a:pPr>
            <a:r>
              <a:t>EVALUATE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04119" y="3429000"/>
            <a:ext cx="1691640" cy="502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100" b="0">
                <a:solidFill>
                  <a:srgbClr val="A6B4CC"/>
                </a:solidFill>
                <a:latin typeface="Aptos"/>
              </a:defRPr>
            </a:pPr>
            <a:r>
              <a:t>Check metrics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4892040"/>
            <a:ext cx="1024128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defRPr sz="1700" b="1">
                <a:solidFill>
                  <a:srgbClr val="F5F8FF"/>
                </a:solidFill>
                <a:latin typeface="Aptos"/>
              </a:defRPr>
            </a:pPr>
            <a:r>
              <a:t>Output: clean data + visual insights + a documented model result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0" y="310896"/>
            <a:ext cx="29260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defRPr sz="900" b="1">
                <a:solidFill>
                  <a:srgbClr val="00E6C8"/>
                </a:solidFill>
                <a:latin typeface="Aptos"/>
              </a:defRPr>
            </a:pPr>
            <a:r>
              <a:t>PREPARATION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6473952"/>
            <a:ext cx="10927080" cy="10972"/>
          </a:xfrm>
          <a:prstGeom prst="rect">
            <a:avLst/>
          </a:prstGeom>
          <a:solidFill>
            <a:srgbClr val="30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28816"/>
            <a:ext cx="502920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800" b="1">
                <a:solidFill>
                  <a:srgbClr val="A6B4CC"/>
                </a:solidFill>
                <a:latin typeface="Aptos"/>
              </a:defRPr>
            </a:pPr>
            <a:r>
              <a:t>INTRODUCTION TO DATA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510528"/>
            <a:ext cx="9144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defRPr sz="800" b="1">
                <a:solidFill>
                  <a:srgbClr val="A6B4CC"/>
                </a:solidFill>
                <a:latin typeface="Aptos"/>
              </a:defRPr>
            </a:pPr>
            <a:r>
              <a:t>06  /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94360"/>
            <a:ext cx="10789920" cy="5669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2800" b="1">
                <a:solidFill>
                  <a:srgbClr val="F5F8FF"/>
                </a:solidFill>
                <a:latin typeface="Aptos"/>
              </a:defRPr>
            </a:pPr>
            <a:r>
              <a:t>05  /  Data Preprocessing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261872"/>
            <a:ext cx="822960" cy="50292"/>
          </a:xfrm>
          <a:prstGeom prst="rect">
            <a:avLst/>
          </a:prstGeom>
          <a:solidFill>
            <a:srgbClr val="00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417320"/>
            <a:ext cx="1069848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300" b="0">
                <a:solidFill>
                  <a:srgbClr val="A6B4CC"/>
                </a:solidFill>
                <a:latin typeface="Aptos"/>
              </a:defRPr>
            </a:pPr>
            <a:r>
              <a:t>Prepare the dataset before drawing conclusions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691640"/>
            <a:ext cx="10424160" cy="429768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>
              <a:spcAft>
                <a:spcPts val="1800"/>
              </a:spcAft>
              <a:defRPr sz="1700">
                <a:solidFill>
                  <a:srgbClr val="F5F8FF"/>
                </a:solidFill>
                <a:latin typeface="Aptos"/>
              </a:defRPr>
            </a:pPr>
            <a:r>
              <a:t>●   Inspect the number of rows, columns, data types, and missing values.</a:t>
            </a:r>
          </a:p>
          <a:p>
            <a:pPr>
              <a:spcAft>
                <a:spcPts val="1800"/>
              </a:spcAft>
              <a:defRPr sz="1700">
                <a:solidFill>
                  <a:srgbClr val="F5F8FF"/>
                </a:solidFill>
                <a:latin typeface="Aptos"/>
              </a:defRPr>
            </a:pPr>
            <a:r>
              <a:t>●   Remove duplicate records where appropriate.</a:t>
            </a:r>
          </a:p>
          <a:p>
            <a:pPr>
              <a:spcAft>
                <a:spcPts val="1800"/>
              </a:spcAft>
              <a:defRPr sz="1700">
                <a:solidFill>
                  <a:srgbClr val="F5F8FF"/>
                </a:solidFill>
                <a:latin typeface="Aptos"/>
              </a:defRPr>
            </a:pPr>
            <a:r>
              <a:t>●   Handle missing genre, publisher, name, or release-year values.</a:t>
            </a:r>
          </a:p>
          <a:p>
            <a:pPr>
              <a:spcAft>
                <a:spcPts val="1800"/>
              </a:spcAft>
              <a:defRPr sz="1700">
                <a:solidFill>
                  <a:srgbClr val="F5F8FF"/>
                </a:solidFill>
                <a:latin typeface="Aptos"/>
              </a:defRPr>
            </a:pPr>
            <a:r>
              <a:t>●   Convert sales and year fields to suitable numeric types.</a:t>
            </a:r>
          </a:p>
          <a:p>
            <a:pPr>
              <a:spcAft>
                <a:spcPts val="1800"/>
              </a:spcAft>
              <a:defRPr sz="1700">
                <a:solidFill>
                  <a:srgbClr val="F5F8FF"/>
                </a:solidFill>
                <a:latin typeface="Aptos"/>
              </a:defRPr>
            </a:pPr>
            <a:r>
              <a:t>●   Encode categories such as genre and platform for machine learning.</a:t>
            </a:r>
          </a:p>
          <a:p>
            <a:pPr>
              <a:spcAft>
                <a:spcPts val="1800"/>
              </a:spcAft>
              <a:defRPr sz="1700">
                <a:solidFill>
                  <a:srgbClr val="F5F8FF"/>
                </a:solidFill>
                <a:latin typeface="Aptos"/>
              </a:defRPr>
            </a:pPr>
            <a:r>
              <a:t>●   Prevent data leakage: exclude Global_Sales if it is used to create the target label.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0" y="310896"/>
            <a:ext cx="29260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defRPr sz="900" b="1">
                <a:solidFill>
                  <a:srgbClr val="00E6C8"/>
                </a:solidFill>
                <a:latin typeface="Aptos"/>
              </a:defRPr>
            </a:pPr>
            <a:r>
              <a:t>EXPLORATION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6473952"/>
            <a:ext cx="10927080" cy="10972"/>
          </a:xfrm>
          <a:prstGeom prst="rect">
            <a:avLst/>
          </a:prstGeom>
          <a:solidFill>
            <a:srgbClr val="30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28816"/>
            <a:ext cx="502920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800" b="1">
                <a:solidFill>
                  <a:srgbClr val="A6B4CC"/>
                </a:solidFill>
                <a:latin typeface="Aptos"/>
              </a:defRPr>
            </a:pPr>
            <a:r>
              <a:t>INTRODUCTION TO DATA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510528"/>
            <a:ext cx="9144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defRPr sz="800" b="1">
                <a:solidFill>
                  <a:srgbClr val="A6B4CC"/>
                </a:solidFill>
                <a:latin typeface="Aptos"/>
              </a:defRPr>
            </a:pPr>
            <a:r>
              <a:t>07  /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94360"/>
            <a:ext cx="10789920" cy="5669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2800" b="1">
                <a:solidFill>
                  <a:srgbClr val="F5F8FF"/>
                </a:solidFill>
                <a:latin typeface="Aptos"/>
              </a:defRPr>
            </a:pPr>
            <a:r>
              <a:t>06  /  Exploratory Data Analysis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261872"/>
            <a:ext cx="822960" cy="50292"/>
          </a:xfrm>
          <a:prstGeom prst="rect">
            <a:avLst/>
          </a:prstGeom>
          <a:solidFill>
            <a:srgbClr val="00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417320"/>
            <a:ext cx="1069848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300" b="0">
                <a:solidFill>
                  <a:srgbClr val="A6B4CC"/>
                </a:solidFill>
                <a:latin typeface="Aptos"/>
              </a:defRPr>
            </a:pPr>
            <a:r>
              <a:t>Use charts to discover patterns—not just report numbers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737360"/>
            <a:ext cx="3429000" cy="1554480"/>
          </a:xfrm>
          <a:prstGeom prst="roundRect">
            <a:avLst/>
          </a:prstGeom>
          <a:solidFill>
            <a:srgbClr val="141D34"/>
          </a:solidFill>
          <a:ln w="12700">
            <a:solidFill>
              <a:srgbClr val="30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32688" y="1956815"/>
            <a:ext cx="54864" cy="1115568"/>
          </a:xfrm>
          <a:prstGeom prst="rect">
            <a:avLst/>
          </a:prstGeom>
          <a:solidFill>
            <a:srgbClr val="00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1938528"/>
            <a:ext cx="2862072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900" b="1">
                <a:solidFill>
                  <a:srgbClr val="00E6C8"/>
                </a:solidFill>
                <a:latin typeface="Aptos"/>
              </a:defRPr>
            </a:pPr>
            <a:r>
              <a:t>VIEW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2267712"/>
            <a:ext cx="28620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700" b="1">
                <a:solidFill>
                  <a:srgbClr val="F5F8FF"/>
                </a:solidFill>
                <a:latin typeface="Aptos"/>
              </a:defRPr>
            </a:pPr>
            <a:r>
              <a:t>Genre comparison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2724912"/>
            <a:ext cx="2862072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200" b="0">
                <a:solidFill>
                  <a:srgbClr val="A6B4CC"/>
                </a:solidFill>
                <a:latin typeface="Aptos"/>
              </a:defRPr>
            </a:pPr>
            <a:r>
              <a:t>Compare total or average sales by genre.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1737360"/>
            <a:ext cx="3429000" cy="1554480"/>
          </a:xfrm>
          <a:prstGeom prst="roundRect">
            <a:avLst/>
          </a:prstGeom>
          <a:solidFill>
            <a:srgbClr val="141D34"/>
          </a:solidFill>
          <a:ln w="12700">
            <a:solidFill>
              <a:srgbClr val="30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90288" y="1956815"/>
            <a:ext cx="54864" cy="1115568"/>
          </a:xfrm>
          <a:prstGeom prst="rect">
            <a:avLst/>
          </a:prstGeom>
          <a:solidFill>
            <a:srgbClr val="9D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73168" y="1938528"/>
            <a:ext cx="2862072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900" b="1">
                <a:solidFill>
                  <a:srgbClr val="9D6DFF"/>
                </a:solidFill>
                <a:latin typeface="Aptos"/>
              </a:defRPr>
            </a:pPr>
            <a:r>
              <a:t>VIEW 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2267712"/>
            <a:ext cx="28620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700" b="1">
                <a:solidFill>
                  <a:srgbClr val="F5F8FF"/>
                </a:solidFill>
                <a:latin typeface="Aptos"/>
              </a:defRPr>
            </a:pPr>
            <a:r>
              <a:t>Platform comparison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3168" y="2724912"/>
            <a:ext cx="2862072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200" b="0">
                <a:solidFill>
                  <a:srgbClr val="A6B4CC"/>
                </a:solidFill>
                <a:latin typeface="Aptos"/>
              </a:defRPr>
            </a:pPr>
            <a:r>
              <a:t>Compare sales across consoles and PC.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1737360"/>
            <a:ext cx="3429000" cy="1554480"/>
          </a:xfrm>
          <a:prstGeom prst="roundRect">
            <a:avLst/>
          </a:prstGeom>
          <a:solidFill>
            <a:srgbClr val="141D34"/>
          </a:solidFill>
          <a:ln w="12700">
            <a:solidFill>
              <a:srgbClr val="30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47888" y="1956815"/>
            <a:ext cx="54864" cy="1115568"/>
          </a:xfrm>
          <a:prstGeom prst="rect">
            <a:avLst/>
          </a:prstGeom>
          <a:solidFill>
            <a:srgbClr val="FFD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30768" y="1938528"/>
            <a:ext cx="2862072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900" b="1">
                <a:solidFill>
                  <a:srgbClr val="FFD25C"/>
                </a:solidFill>
                <a:latin typeface="Aptos"/>
              </a:defRPr>
            </a:pPr>
            <a:r>
              <a:t>VIEW 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0768" y="2267712"/>
            <a:ext cx="28620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700" b="1">
                <a:solidFill>
                  <a:srgbClr val="F5F8FF"/>
                </a:solidFill>
                <a:latin typeface="Aptos"/>
              </a:defRPr>
            </a:pPr>
            <a:r>
              <a:t>Release trends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0768" y="2724912"/>
            <a:ext cx="2862072" cy="457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200" b="0">
                <a:solidFill>
                  <a:srgbClr val="A6B4CC"/>
                </a:solidFill>
                <a:latin typeface="Aptos"/>
              </a:defRPr>
            </a:pPr>
            <a:r>
              <a:t>Explore changes in sales by year.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657600"/>
            <a:ext cx="5257800" cy="1508760"/>
          </a:xfrm>
          <a:prstGeom prst="roundRect">
            <a:avLst/>
          </a:prstGeom>
          <a:solidFill>
            <a:srgbClr val="141D34"/>
          </a:solidFill>
          <a:ln w="12700">
            <a:solidFill>
              <a:srgbClr val="30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32688" y="3877056"/>
            <a:ext cx="54864" cy="1069848"/>
          </a:xfrm>
          <a:prstGeom prst="rect">
            <a:avLst/>
          </a:prstGeom>
          <a:solidFill>
            <a:srgbClr val="00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15568" y="3858768"/>
            <a:ext cx="4690872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900" b="1">
                <a:solidFill>
                  <a:srgbClr val="00E6C8"/>
                </a:solidFill>
                <a:latin typeface="Aptos"/>
              </a:defRPr>
            </a:pPr>
            <a:r>
              <a:t>VISUALIZATION TOOLS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418795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700" b="1">
                <a:solidFill>
                  <a:srgbClr val="F5F8FF"/>
                </a:solidFill>
                <a:latin typeface="Aptos"/>
              </a:defRPr>
            </a:pPr>
            <a:r>
              <a:t>Matplotlib + Seaborn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" y="4645152"/>
            <a:ext cx="4690872" cy="411479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200" b="0">
                <a:solidFill>
                  <a:srgbClr val="A6B4CC"/>
                </a:solidFill>
                <a:latin typeface="Aptos"/>
              </a:defRPr>
            </a:pPr>
            <a:r>
              <a:t>Bar charts, line charts, distributions, and correlation heatmaps.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3657600"/>
            <a:ext cx="5257800" cy="1508760"/>
          </a:xfrm>
          <a:prstGeom prst="roundRect">
            <a:avLst/>
          </a:prstGeom>
          <a:solidFill>
            <a:srgbClr val="141D34"/>
          </a:solidFill>
          <a:ln w="12700">
            <a:solidFill>
              <a:srgbClr val="30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19088" y="3877056"/>
            <a:ext cx="54864" cy="1069848"/>
          </a:xfrm>
          <a:prstGeom prst="rect">
            <a:avLst/>
          </a:prstGeom>
          <a:solidFill>
            <a:srgbClr val="9D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01968" y="3858768"/>
            <a:ext cx="4690872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900" b="1">
                <a:solidFill>
                  <a:srgbClr val="9D6DFF"/>
                </a:solidFill>
                <a:latin typeface="Aptos"/>
              </a:defRPr>
            </a:pPr>
            <a:r>
              <a:t>QUESTIONS TO ANSWER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01968" y="4187952"/>
            <a:ext cx="46908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700" b="1">
                <a:solidFill>
                  <a:srgbClr val="F5F8FF"/>
                </a:solidFill>
                <a:latin typeface="Aptos"/>
              </a:defRPr>
            </a:pPr>
            <a:r>
              <a:t>What stands out?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01968" y="4645152"/>
            <a:ext cx="4690872" cy="411479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200" b="0">
                <a:solidFill>
                  <a:srgbClr val="A6B4CC"/>
                </a:solidFill>
                <a:latin typeface="Aptos"/>
              </a:defRPr>
            </a:pPr>
            <a:r>
              <a:t>Which categories lead? How do regional patterns differ?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0" y="310896"/>
            <a:ext cx="29260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defRPr sz="900" b="1">
                <a:solidFill>
                  <a:srgbClr val="00E6C8"/>
                </a:solidFill>
                <a:latin typeface="Aptos"/>
              </a:defRPr>
            </a:pPr>
            <a:r>
              <a:t>PREDICTION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6473952"/>
            <a:ext cx="10927080" cy="10972"/>
          </a:xfrm>
          <a:prstGeom prst="rect">
            <a:avLst/>
          </a:prstGeom>
          <a:solidFill>
            <a:srgbClr val="30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28816"/>
            <a:ext cx="502920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800" b="1">
                <a:solidFill>
                  <a:srgbClr val="A6B4CC"/>
                </a:solidFill>
                <a:latin typeface="Aptos"/>
              </a:defRPr>
            </a:pPr>
            <a:r>
              <a:t>INTRODUCTION TO DATA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510528"/>
            <a:ext cx="9144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defRPr sz="800" b="1">
                <a:solidFill>
                  <a:srgbClr val="A6B4CC"/>
                </a:solidFill>
                <a:latin typeface="Aptos"/>
              </a:defRPr>
            </a:pPr>
            <a:r>
              <a:t>08  /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94360"/>
            <a:ext cx="10789920" cy="5669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2800" b="1">
                <a:solidFill>
                  <a:srgbClr val="F5F8FF"/>
                </a:solidFill>
                <a:latin typeface="Aptos"/>
              </a:defRPr>
            </a:pPr>
            <a:r>
              <a:t>07  /  Genre &amp; Platform Success Prediction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261872"/>
            <a:ext cx="822960" cy="50292"/>
          </a:xfrm>
          <a:prstGeom prst="rect">
            <a:avLst/>
          </a:prstGeom>
          <a:solidFill>
            <a:srgbClr val="00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417320"/>
            <a:ext cx="10698480" cy="4114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300" b="0">
                <a:solidFill>
                  <a:srgbClr val="A6B4CC"/>
                </a:solidFill>
                <a:latin typeface="Aptos"/>
              </a:defRPr>
            </a:pPr>
            <a:r>
              <a:t>A baseline classification approach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783080"/>
            <a:ext cx="3429000" cy="1645920"/>
          </a:xfrm>
          <a:prstGeom prst="roundRect">
            <a:avLst/>
          </a:prstGeom>
          <a:solidFill>
            <a:srgbClr val="141D34"/>
          </a:solidFill>
          <a:ln w="12700">
            <a:solidFill>
              <a:srgbClr val="30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32688" y="2002536"/>
            <a:ext cx="54864" cy="1207008"/>
          </a:xfrm>
          <a:prstGeom prst="rect">
            <a:avLst/>
          </a:prstGeom>
          <a:solidFill>
            <a:srgbClr val="00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1984248"/>
            <a:ext cx="2862072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900" b="1">
                <a:solidFill>
                  <a:srgbClr val="00E6C8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2313432"/>
            <a:ext cx="28620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700" b="1">
                <a:solidFill>
                  <a:srgbClr val="F5F8FF"/>
                </a:solidFill>
                <a:latin typeface="Aptos"/>
              </a:defRPr>
            </a:pPr>
            <a:r>
              <a:t>DEFINE SUCCESS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2770632"/>
            <a:ext cx="2862072" cy="5486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200" b="0">
                <a:solidFill>
                  <a:srgbClr val="A6B4CC"/>
                </a:solidFill>
                <a:latin typeface="Aptos"/>
              </a:defRPr>
            </a:pPr>
            <a:r>
              <a:t>Choose a clear threshold for high vs low sales.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6280" y="1783080"/>
            <a:ext cx="3429000" cy="1645920"/>
          </a:xfrm>
          <a:prstGeom prst="roundRect">
            <a:avLst/>
          </a:prstGeom>
          <a:solidFill>
            <a:srgbClr val="141D34"/>
          </a:solidFill>
          <a:ln w="12700">
            <a:solidFill>
              <a:srgbClr val="30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27448" y="2002536"/>
            <a:ext cx="54864" cy="1207008"/>
          </a:xfrm>
          <a:prstGeom prst="rect">
            <a:avLst/>
          </a:prstGeom>
          <a:solidFill>
            <a:srgbClr val="9D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0328" y="1984248"/>
            <a:ext cx="2862072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900" b="1">
                <a:solidFill>
                  <a:srgbClr val="9D6D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0328" y="2313432"/>
            <a:ext cx="28620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700" b="1">
                <a:solidFill>
                  <a:srgbClr val="F5F8FF"/>
                </a:solidFill>
                <a:latin typeface="Aptos"/>
              </a:defRPr>
            </a:pPr>
            <a:r>
              <a:t>SELECT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10328" y="2770632"/>
            <a:ext cx="2862072" cy="5486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200" b="0">
                <a:solidFill>
                  <a:srgbClr val="A6B4CC"/>
                </a:solidFill>
                <a:latin typeface="Aptos"/>
              </a:defRPr>
            </a:pPr>
            <a:r>
              <a:t>Genre, platform, publisher, and release year.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1783080"/>
            <a:ext cx="3429000" cy="1645920"/>
          </a:xfrm>
          <a:prstGeom prst="roundRect">
            <a:avLst/>
          </a:prstGeom>
          <a:solidFill>
            <a:srgbClr val="141D34"/>
          </a:solidFill>
          <a:ln w="12700">
            <a:solidFill>
              <a:srgbClr val="30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22208" y="2002536"/>
            <a:ext cx="54864" cy="1207008"/>
          </a:xfrm>
          <a:prstGeom prst="rect">
            <a:avLst/>
          </a:prstGeom>
          <a:solidFill>
            <a:srgbClr val="FFD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05088" y="1984248"/>
            <a:ext cx="2862072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900" b="1">
                <a:solidFill>
                  <a:srgbClr val="FFD25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05088" y="2313432"/>
            <a:ext cx="28620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700" b="1">
                <a:solidFill>
                  <a:srgbClr val="F5F8FF"/>
                </a:solidFill>
                <a:latin typeface="Aptos"/>
              </a:defRPr>
            </a:pPr>
            <a:r>
              <a:t>TRAIN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05088" y="2770632"/>
            <a:ext cx="2862072" cy="5486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200" b="0">
                <a:solidFill>
                  <a:srgbClr val="A6B4CC"/>
                </a:solidFill>
                <a:latin typeface="Aptos"/>
              </a:defRPr>
            </a:pPr>
            <a:r>
              <a:t>Start with Decision Tree; compare Random Forest.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977639"/>
            <a:ext cx="10149840" cy="1554480"/>
          </a:xfrm>
          <a:prstGeom prst="rect">
            <a:avLst/>
          </a:prstGeom>
          <a:noFill/>
        </p:spPr>
        <p:txBody>
          <a:bodyPr wrap="square" lIns="73152" rIns="73152" tIns="54864" bIns="54864">
            <a:spAutoFit/>
          </a:bodyPr>
          <a:lstStyle/>
          <a:p>
            <a:pPr>
              <a:spcAft>
                <a:spcPts val="1800"/>
              </a:spcAft>
              <a:defRPr sz="1600">
                <a:solidFill>
                  <a:srgbClr val="F5F8FF"/>
                </a:solidFill>
                <a:latin typeface="Aptos"/>
              </a:defRPr>
            </a:pPr>
            <a:r>
              <a:t>●   Use a train/test split and fit preprocessing only on training data.</a:t>
            </a:r>
          </a:p>
          <a:p>
            <a:pPr>
              <a:spcAft>
                <a:spcPts val="1800"/>
              </a:spcAft>
              <a:defRPr sz="1600">
                <a:solidFill>
                  <a:srgbClr val="F5F8FF"/>
                </a:solidFill>
                <a:latin typeface="Aptos"/>
              </a:defRPr>
            </a:pPr>
            <a:r>
              <a:t>●   Evaluate with precision, recall, F1-score, accuracy, and a confusion matrix.</a:t>
            </a:r>
          </a:p>
          <a:p>
            <a:pPr>
              <a:spcAft>
                <a:spcPts val="1800"/>
              </a:spcAft>
              <a:defRPr sz="1600">
                <a:solidFill>
                  <a:srgbClr val="F5F8FF"/>
                </a:solidFill>
                <a:latin typeface="Aptos"/>
              </a:defRPr>
            </a:pPr>
            <a:r>
              <a:t>●   Interpret results as estimates based on historical data—not guarantees.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95360" y="310896"/>
            <a:ext cx="2926080" cy="25603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defRPr sz="900" b="1">
                <a:solidFill>
                  <a:srgbClr val="00E6C8"/>
                </a:solidFill>
                <a:latin typeface="Aptos"/>
              </a:defRPr>
            </a:pPr>
            <a:r>
              <a:t>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6473952"/>
            <a:ext cx="10927080" cy="10972"/>
          </a:xfrm>
          <a:prstGeom prst="rect">
            <a:avLst/>
          </a:prstGeom>
          <a:solidFill>
            <a:srgbClr val="30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28816"/>
            <a:ext cx="502920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800" b="1">
                <a:solidFill>
                  <a:srgbClr val="A6B4CC"/>
                </a:solidFill>
                <a:latin typeface="Aptos"/>
              </a:defRPr>
            </a:pPr>
            <a:r>
              <a:t>INTRODUCTION TO DATA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510528"/>
            <a:ext cx="914400" cy="20116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r">
              <a:defRPr sz="800" b="1">
                <a:solidFill>
                  <a:srgbClr val="A6B4CC"/>
                </a:solidFill>
                <a:latin typeface="Aptos"/>
              </a:defRPr>
            </a:pPr>
            <a:r>
              <a:t>09  /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94360"/>
            <a:ext cx="10789920" cy="56692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2800" b="1">
                <a:solidFill>
                  <a:srgbClr val="F5F8FF"/>
                </a:solidFill>
                <a:latin typeface="Aptos"/>
              </a:defRPr>
            </a:pPr>
            <a:r>
              <a:t>08  /  Tools, Outputs &amp; Applications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261872"/>
            <a:ext cx="822960" cy="50292"/>
          </a:xfrm>
          <a:prstGeom prst="rect">
            <a:avLst/>
          </a:prstGeom>
          <a:solidFill>
            <a:srgbClr val="00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3429000" cy="2057400"/>
          </a:xfrm>
          <a:prstGeom prst="roundRect">
            <a:avLst/>
          </a:prstGeom>
          <a:solidFill>
            <a:srgbClr val="141D34"/>
          </a:solidFill>
          <a:ln w="12700">
            <a:solidFill>
              <a:srgbClr val="30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32688" y="1956815"/>
            <a:ext cx="54864" cy="1618488"/>
          </a:xfrm>
          <a:prstGeom prst="rect">
            <a:avLst/>
          </a:prstGeom>
          <a:solidFill>
            <a:srgbClr val="00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1938528"/>
            <a:ext cx="2862072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900" b="1">
                <a:solidFill>
                  <a:srgbClr val="00E6C8"/>
                </a:solidFill>
                <a:latin typeface="Aptos"/>
              </a:defRPr>
            </a:pPr>
            <a:r>
              <a:t>TECH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267712"/>
            <a:ext cx="28620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700" b="1">
                <a:solidFill>
                  <a:srgbClr val="F5F8FF"/>
                </a:solidFill>
                <a:latin typeface="Aptos"/>
              </a:defRPr>
            </a:pPr>
            <a:r>
              <a:t>Python ecosystem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2724912"/>
            <a:ext cx="2862072" cy="9601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200" b="0">
                <a:solidFill>
                  <a:srgbClr val="A6B4CC"/>
                </a:solidFill>
                <a:latin typeface="Aptos"/>
              </a:defRPr>
            </a:pPr>
            <a:r>
              <a:t>Pandas • NumPy</a:t>
            </a:r>
            <a:br/>
            <a:r>
              <a:t>Matplotlib • Seaborn</a:t>
            </a:r>
            <a:br/>
            <a:r>
              <a:t>Scikit-learn</a:t>
            </a:r>
            <a:br/>
            <a:r>
              <a:t>Jupyter / Colab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737360"/>
            <a:ext cx="3429000" cy="2057400"/>
          </a:xfrm>
          <a:prstGeom prst="roundRect">
            <a:avLst/>
          </a:prstGeom>
          <a:solidFill>
            <a:srgbClr val="141D34"/>
          </a:solidFill>
          <a:ln w="12700">
            <a:solidFill>
              <a:srgbClr val="30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90288" y="1956815"/>
            <a:ext cx="54864" cy="1618488"/>
          </a:xfrm>
          <a:prstGeom prst="rect">
            <a:avLst/>
          </a:prstGeom>
          <a:solidFill>
            <a:srgbClr val="9D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73168" y="1938528"/>
            <a:ext cx="2862072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900" b="1">
                <a:solidFill>
                  <a:srgbClr val="9D6DFF"/>
                </a:solidFill>
                <a:latin typeface="Aptos"/>
              </a:defRPr>
            </a:pPr>
            <a:r>
              <a:t>EXPECTED OUTPUTS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3168" y="2267712"/>
            <a:ext cx="28620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700" b="1">
                <a:solidFill>
                  <a:srgbClr val="F5F8FF"/>
                </a:solidFill>
                <a:latin typeface="Aptos"/>
              </a:defRPr>
            </a:pPr>
            <a:r>
              <a:t>What the project produces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2724912"/>
            <a:ext cx="2862072" cy="9601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200" b="0">
                <a:solidFill>
                  <a:srgbClr val="A6B4CC"/>
                </a:solidFill>
                <a:latin typeface="Aptos"/>
              </a:defRPr>
            </a:pPr>
            <a:r>
              <a:t>Sales summaries</a:t>
            </a:r>
            <a:br/>
            <a:r>
              <a:t>Genre/platform charts</a:t>
            </a:r>
            <a:br/>
            <a:r>
              <a:t>Regional comparisons</a:t>
            </a:r>
            <a:br/>
            <a:r>
              <a:t>Model evaluation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737360"/>
            <a:ext cx="3429000" cy="2057400"/>
          </a:xfrm>
          <a:prstGeom prst="roundRect">
            <a:avLst/>
          </a:prstGeom>
          <a:solidFill>
            <a:srgbClr val="141D34"/>
          </a:solidFill>
          <a:ln w="12700">
            <a:solidFill>
              <a:srgbClr val="30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47888" y="1956815"/>
            <a:ext cx="54864" cy="1618488"/>
          </a:xfrm>
          <a:prstGeom prst="rect">
            <a:avLst/>
          </a:prstGeom>
          <a:solidFill>
            <a:srgbClr val="FFD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0768" y="1938528"/>
            <a:ext cx="2862072" cy="21945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900" b="1">
                <a:solidFill>
                  <a:srgbClr val="FFD25C"/>
                </a:solidFill>
                <a:latin typeface="Aptos"/>
              </a:defRPr>
            </a:pPr>
            <a:r>
              <a:t>REAL-WORLD 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0768" y="2267712"/>
            <a:ext cx="2862072" cy="38404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700" b="1">
                <a:solidFill>
                  <a:srgbClr val="F5F8FF"/>
                </a:solidFill>
                <a:latin typeface="Aptos"/>
              </a:defRPr>
            </a:pPr>
            <a:r>
              <a:t>Where insights help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0768" y="2724912"/>
            <a:ext cx="2862072" cy="9601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200" b="0">
                <a:solidFill>
                  <a:srgbClr val="A6B4CC"/>
                </a:solidFill>
                <a:latin typeface="Aptos"/>
              </a:defRPr>
            </a:pPr>
            <a:r>
              <a:t>Market research</a:t>
            </a:r>
            <a:br/>
            <a:r>
              <a:t>Game planning</a:t>
            </a:r>
            <a:br/>
            <a:r>
              <a:t>Platform comparison</a:t>
            </a:r>
            <a:br/>
            <a:r>
              <a:t>Marketing strategy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343400"/>
            <a:ext cx="10515600" cy="777240"/>
          </a:xfrm>
          <a:prstGeom prst="roundRect">
            <a:avLst/>
          </a:prstGeom>
          <a:solidFill>
            <a:srgbClr val="1B2743"/>
          </a:solidFill>
          <a:ln w="12700">
            <a:solidFill>
              <a:srgbClr val="30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544568"/>
            <a:ext cx="731520" cy="228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000" b="1">
                <a:solidFill>
                  <a:srgbClr val="00E6C8"/>
                </a:solidFill>
                <a:latin typeface="Aptos"/>
              </a:defRPr>
            </a:pPr>
            <a:r>
              <a:t>NOTE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4498848"/>
            <a:ext cx="8869680" cy="320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Aptos"/>
              </a:defRPr>
            </a:pPr>
            <a:r>
              <a:t>Add actual findings only after running the analysis on your selected dataset.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31520"/>
            <a:ext cx="2926080" cy="2743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000" b="1">
                <a:solidFill>
                  <a:srgbClr val="00E6C8"/>
                </a:solidFill>
                <a:latin typeface="Aptos"/>
              </a:defRPr>
            </a:pPr>
            <a:r>
              <a:t>FINAL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71600"/>
            <a:ext cx="7589520" cy="146304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3600" b="1">
                <a:solidFill>
                  <a:srgbClr val="F5F8FF"/>
                </a:solidFill>
                <a:latin typeface="Aptos"/>
              </a:defRPr>
            </a:pPr>
            <a:r>
              <a:t>From sales data</a:t>
            </a:r>
            <a:br/>
            <a:r>
              <a:t>to smarter insights.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46120"/>
            <a:ext cx="7863840" cy="8229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1900" b="0">
                <a:solidFill>
                  <a:srgbClr val="A6B4CC"/>
                </a:solidFill>
                <a:latin typeface="Aptos"/>
              </a:defRPr>
            </a:pPr>
            <a:r>
              <a:t>EDA reveals market patterns, while machine learning can estimate a game's sales-success category from selected features.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709160"/>
            <a:ext cx="3749039" cy="27432"/>
          </a:xfrm>
          <a:prstGeom prst="rect">
            <a:avLst/>
          </a:prstGeom>
          <a:solidFill>
            <a:srgbClr val="30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5074920"/>
            <a:ext cx="4389120" cy="6400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3000" b="1">
                <a:solidFill>
                  <a:srgbClr val="00E6C8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3520439"/>
            <a:ext cx="256032" cy="914400"/>
          </a:xfrm>
          <a:prstGeom prst="roundRect">
            <a:avLst/>
          </a:prstGeom>
          <a:solidFill>
            <a:srgbClr val="00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23960" y="2788920"/>
            <a:ext cx="256032" cy="1645920"/>
          </a:xfrm>
          <a:prstGeom prst="roundRect">
            <a:avLst/>
          </a:prstGeom>
          <a:solidFill>
            <a:srgbClr val="9D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0" y="3200399"/>
            <a:ext cx="256032" cy="1234440"/>
          </a:xfrm>
          <a:prstGeom prst="roundRect">
            <a:avLst/>
          </a:prstGeom>
          <a:solidFill>
            <a:srgbClr val="00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829800" y="2148839"/>
            <a:ext cx="256032" cy="2286000"/>
          </a:xfrm>
          <a:prstGeom prst="roundRect">
            <a:avLst/>
          </a:prstGeom>
          <a:solidFill>
            <a:srgbClr val="9D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332720" y="2606039"/>
            <a:ext cx="256032" cy="1828800"/>
          </a:xfrm>
          <a:prstGeom prst="roundRect">
            <a:avLst/>
          </a:prstGeom>
          <a:solidFill>
            <a:srgbClr val="00E6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528816"/>
            <a:ext cx="5029200" cy="16459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l">
              <a:defRPr sz="800" b="1">
                <a:solidFill>
                  <a:srgbClr val="A6B4CC"/>
                </a:solidFill>
                <a:latin typeface="Aptos"/>
              </a:defRPr>
            </a:pPr>
            <a:r>
              <a:t>INTRODUCTION TO DATA SCIENCE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