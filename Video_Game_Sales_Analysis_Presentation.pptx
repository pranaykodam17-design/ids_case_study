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640080"/>
            <a:ext cx="2377440" cy="109728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372600" y="914400"/>
            <a:ext cx="1783080" cy="109728"/>
          </a:xfrm>
          <a:prstGeom prst="rect">
            <a:avLst/>
          </a:prstGeom>
          <a:solidFill>
            <a:srgbClr val="D1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98280" y="1188720"/>
            <a:ext cx="2057400" cy="109728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804672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Aptos"/>
              </a:defRPr>
            </a:pPr>
            <a:r>
              <a:t>VIDEO GAME SALES</a:t>
            </a:r>
            <a:br/>
            <a:r>
              <a:t>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154680"/>
            <a:ext cx="8046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500" b="1">
                <a:solidFill>
                  <a:srgbClr val="53CF82"/>
                </a:solidFill>
                <a:latin typeface="Aptos"/>
              </a:defRPr>
            </a:pPr>
            <a:r>
              <a:t>&amp; GENRE / PLATFORM</a:t>
            </a:r>
            <a:br/>
            <a:r>
              <a:t>SUCCESS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09160"/>
            <a:ext cx="59436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800" b="0">
                <a:solidFill>
                  <a:srgbClr val="AEBBC7"/>
                </a:solidFill>
                <a:latin typeface="Aptos"/>
              </a:defRPr>
            </a:pPr>
            <a:r>
              <a:t>Introduction to Data Science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71500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300" b="0">
                <a:solidFill>
                  <a:srgbClr val="F8FAFC"/>
                </a:solidFill>
                <a:latin typeface="Aptos"/>
              </a:defRPr>
            </a:pPr>
            <a:r>
              <a:t>Presented by: Your Name  |  AI &amp; Data Science</a:t>
            </a:r>
          </a:p>
        </p:txBody>
      </p:sp>
      <p:sp>
        <p:nvSpPr>
          <p:cNvPr id="9" name="Oval 8"/>
          <p:cNvSpPr/>
          <p:nvPr/>
        </p:nvSpPr>
        <p:spPr>
          <a:xfrm>
            <a:off x="9189720" y="2743200"/>
            <a:ext cx="1417320" cy="1417320"/>
          </a:xfrm>
          <a:prstGeom prst="ellipse">
            <a:avLst/>
          </a:prstGeom>
          <a:solidFill>
            <a:srgbClr val="192533"/>
          </a:solidFill>
          <a:ln>
            <a:solidFill>
              <a:srgbClr val="53C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36608" y="2971800"/>
            <a:ext cx="457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600" b="1">
                <a:solidFill>
                  <a:srgbClr val="53CF82"/>
                </a:solidFill>
                <a:latin typeface="Aptos"/>
              </a:defRPr>
            </a:pPr>
            <a:r>
              <a:t>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2952" y="2971800"/>
            <a:ext cx="3657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700" b="1">
                <a:solidFill>
                  <a:srgbClr val="D1F5E0"/>
                </a:solidFill>
                <a:latin typeface="Aptos"/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7548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100" b="1">
                <a:solidFill>
                  <a:srgbClr val="AEBBC7"/>
                </a:solidFill>
                <a:latin typeface="Aptos"/>
              </a:defRPr>
            </a:pPr>
            <a:r>
              <a:t>DATA  •  INSIGHTS  • 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1. 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The video game industry produces large amounts of sales data.</a:t>
            </a:r>
          </a:p>
          <a:p>
            <a:pPr>
              <a:spcAft>
                <a:spcPts val="1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Sales can vary by game genre, platform, publisher, region, and release year.</a:t>
            </a:r>
          </a:p>
          <a:p>
            <a:pPr>
              <a:spcAft>
                <a:spcPts val="1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Data science helps discover patterns and explain market performance.</a:t>
            </a:r>
          </a:p>
          <a:p>
            <a:pPr>
              <a:spcAft>
                <a:spcPts val="1800"/>
              </a:spcAft>
              <a:defRPr sz="2100">
                <a:solidFill>
                  <a:srgbClr val="F8FAFC"/>
                </a:solidFill>
                <a:latin typeface="Aptos"/>
              </a:defRPr>
            </a:pPr>
            <a:r>
              <a:t>•  This project combines data analysis, visualization, and machine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2. 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5257800" cy="182880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27048"/>
            <a:ext cx="64008" cy="160934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484632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Which genres and platforms are associated with higher video game sales?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57800" cy="182880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27048"/>
            <a:ext cx="64008" cy="160934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18488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30552"/>
            <a:ext cx="484632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Analyze sales patterns, compare platforms, and build a model to estimate sales-success categories.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3383280" cy="160020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675887"/>
            <a:ext cx="64008" cy="138074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767328"/>
            <a:ext cx="2971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01  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79392"/>
            <a:ext cx="29718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Find top-selling games and genres.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566160"/>
            <a:ext cx="3383280" cy="160020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675887"/>
            <a:ext cx="64008" cy="138074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767328"/>
            <a:ext cx="2971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02  COMPARE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279392"/>
            <a:ext cx="29718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Study platform and regional sales.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3566160"/>
            <a:ext cx="3383280" cy="160020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3675887"/>
            <a:ext cx="64008" cy="138074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767328"/>
            <a:ext cx="2971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03  PREDICT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279392"/>
            <a:ext cx="297180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Estimate high-sales vs low-sales.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3. 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Suggested dataset: Video Game Sales dataset (commonly available on Kaggle).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Typical columns: Name, Platform, Year, Genre, Publisher.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Sales fields may include North America, Europe, Japan, Other, and Global sales.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Sales values are commonly represented in millions of units.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Dataset versions may differ in row count and missing values—check the downloaded file.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417320"/>
            <a:ext cx="29260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Example features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874519"/>
            <a:ext cx="3383280" cy="713232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984248"/>
            <a:ext cx="64008" cy="493776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75688"/>
            <a:ext cx="2971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Genre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587752"/>
            <a:ext cx="2971800" cy="-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743200"/>
            <a:ext cx="3383280" cy="713232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2852928"/>
            <a:ext cx="64008" cy="493776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944368"/>
            <a:ext cx="2971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56432"/>
            <a:ext cx="2971800" cy="-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PS4 / Wii / PC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611879"/>
            <a:ext cx="3383280" cy="713232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3721607"/>
            <a:ext cx="64008" cy="493776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813048"/>
            <a:ext cx="2971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325112"/>
            <a:ext cx="2971800" cy="-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Release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480559"/>
            <a:ext cx="3383280" cy="713232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4590288"/>
            <a:ext cx="64008" cy="493776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681727"/>
            <a:ext cx="29718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193792"/>
            <a:ext cx="2971800" cy="-1097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Sales category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4. Data Science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057400" cy="210312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2167128"/>
            <a:ext cx="64008" cy="1883663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58568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01  Collect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70632"/>
            <a:ext cx="1645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Load the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743200"/>
            <a:ext cx="25603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53CF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79" y="2057400"/>
            <a:ext cx="2057400" cy="210312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26079" y="2167128"/>
            <a:ext cx="64008" cy="1883663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79" y="2258568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02 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2770632"/>
            <a:ext cx="1645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Handle missing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79" y="2743200"/>
            <a:ext cx="25603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53CF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057400"/>
            <a:ext cx="2057400" cy="210312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2167128"/>
            <a:ext cx="64008" cy="1883663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0" y="2258568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03  Explore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770632"/>
            <a:ext cx="1645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Summarize and visualize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743200"/>
            <a:ext cx="25603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53CF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19" y="2057400"/>
            <a:ext cx="2057400" cy="210312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19" y="2167128"/>
            <a:ext cx="64008" cy="1883663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18119" y="2258568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04 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19" y="2770632"/>
            <a:ext cx="1645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Train a 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2743200"/>
            <a:ext cx="256032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200" b="1">
                <a:solidFill>
                  <a:srgbClr val="53CF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21240" y="2057400"/>
            <a:ext cx="2057400" cy="210312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2167128"/>
            <a:ext cx="64008" cy="1883663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49840" y="2258568"/>
            <a:ext cx="16459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05  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2770632"/>
            <a:ext cx="164592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Measure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892040"/>
            <a:ext cx="1024128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900" b="0">
                <a:solidFill>
                  <a:srgbClr val="AEBBC7"/>
                </a:solidFill>
                <a:latin typeface="Aptos"/>
              </a:defRPr>
            </a:pPr>
            <a:r>
              <a:t>A clear workflow makes the analysis reproducible and easier to explain.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5. Data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Inspect column names, data types, and dataset shape.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Remove duplicate rows if present.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Handle missing game names, genres, publishers, or release years.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Convert numeric fields to the correct data types.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Encode categorical features before machine learning.</a:t>
            </a:r>
          </a:p>
          <a:p>
            <a:pPr>
              <a:spcAft>
                <a:spcPts val="1800"/>
              </a:spcAft>
              <a:defRPr sz="1900">
                <a:solidFill>
                  <a:srgbClr val="F8FAFC"/>
                </a:solidFill>
                <a:latin typeface="Aptos"/>
              </a:defRPr>
            </a:pPr>
            <a:r>
              <a:t>•  Avoid data leakage: do not use Global_Sales as an input if it defines the target label.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6. Exploratory Data Analysis (EDA)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50876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27048"/>
            <a:ext cx="64008" cy="128930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GENRE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3017520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Compare total or average sales across genres.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50876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27048"/>
            <a:ext cx="64008" cy="128930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18488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PLATFORM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30552"/>
            <a:ext cx="3017520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Compare sales across consoles and PC.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150876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27048"/>
            <a:ext cx="64008" cy="128930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18488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TIME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30552"/>
            <a:ext cx="3017520" cy="68579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Explore how releases and sales change by year.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37560"/>
            <a:ext cx="5257800" cy="160020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447288"/>
            <a:ext cx="64008" cy="138074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538728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VISUALIZATIONS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50791"/>
            <a:ext cx="48463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Bar charts, line charts, histograms, and correlation heatmaps.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37560"/>
            <a:ext cx="5257800" cy="160020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47288"/>
            <a:ext cx="64008" cy="138074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538728"/>
            <a:ext cx="4846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KEY 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050791"/>
            <a:ext cx="484632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Which genres sell most? Which platforms appear strongest? How do regions differ?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7. Genre / Platform Success Prediction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4805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Define success, for example: high sales vs low sales using a chosen threshold.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Possible input features: genre, platform, publisher, and release year.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Start with a Decision Tree; compare results with Random Forest.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Split data into training and test sets and fit preprocessing only on training data.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Evaluate using accuracy, precision, recall, F1-score, and a confusion matrix.</a:t>
            </a:r>
          </a:p>
          <a:p>
            <a:pPr>
              <a:spcAft>
                <a:spcPts val="1800"/>
              </a:spcAft>
              <a:defRPr sz="1800">
                <a:solidFill>
                  <a:srgbClr val="F8FAFC"/>
                </a:solidFill>
                <a:latin typeface="Aptos"/>
              </a:defRPr>
            </a:pPr>
            <a:r>
              <a:t>•  Treat the result as an estimate, not a guarantee of future sales.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"/>
              </a:defRPr>
            </a:pPr>
            <a:r>
              <a:t>8. Tools, Results &amp;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1024128"/>
            <a:ext cx="960120" cy="5486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473952"/>
            <a:ext cx="1088136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  •  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192024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27048"/>
            <a:ext cx="64008" cy="170078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18488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30552"/>
            <a:ext cx="3017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Python</a:t>
            </a:r>
            <a:br/>
            <a:r>
              <a:t>Pandas • NumPy</a:t>
            </a:r>
            <a:br/>
            <a:r>
              <a:t>Matplotlib • Seaborn</a:t>
            </a:r>
            <a:br/>
            <a:r>
              <a:t>Scikit-learn</a:t>
            </a:r>
            <a:br/>
            <a:r>
              <a:t>Jupyter / Google Colab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192024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27048"/>
            <a:ext cx="64008" cy="170078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18488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EXPECTED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30552"/>
            <a:ext cx="3017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Sales summary tables</a:t>
            </a:r>
            <a:br/>
            <a:r>
              <a:t>Genre/platform charts</a:t>
            </a:r>
            <a:br/>
            <a:r>
              <a:t>Regional comparisons</a:t>
            </a:r>
            <a:br/>
            <a:r>
              <a:t>Model performance report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29000" cy="1920240"/>
          </a:xfrm>
          <a:prstGeom prst="roundRect">
            <a:avLst/>
          </a:prstGeom>
          <a:solidFill>
            <a:srgbClr val="192533"/>
          </a:solidFill>
          <a:ln>
            <a:solidFill>
              <a:srgbClr val="354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27048"/>
            <a:ext cx="64008" cy="1700784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18488"/>
            <a:ext cx="30175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700" b="1">
                <a:solidFill>
                  <a:srgbClr val="53CF82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130552"/>
            <a:ext cx="30175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400" b="0">
                <a:solidFill>
                  <a:srgbClr val="F8FAFC"/>
                </a:solidFill>
                <a:latin typeface="Aptos"/>
              </a:defRPr>
            </a:pPr>
            <a:r>
              <a:t>Market research</a:t>
            </a:r>
            <a:br/>
            <a:r>
              <a:t>Game planning</a:t>
            </a:r>
            <a:br/>
            <a:r>
              <a:t>Platform comparisons</a:t>
            </a:r>
            <a:br/>
            <a:r>
              <a:t>Marketing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594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1800" b="1">
                <a:solidFill>
                  <a:srgbClr val="D1F5E0"/>
                </a:solidFill>
                <a:latin typeface="Aptos"/>
              </a:defRPr>
            </a:pPr>
            <a:r>
              <a:t>The actual findings should be added after running the analysis on the selected dataset.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B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31520"/>
            <a:ext cx="45720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600" b="1">
                <a:solidFill>
                  <a:srgbClr val="53CF8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813816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3400" b="1">
                <a:solidFill>
                  <a:srgbClr val="F8FAFC"/>
                </a:solidFill>
                <a:latin typeface="Aptos"/>
              </a:defRPr>
            </a:pPr>
            <a:r>
              <a:t>Data turns game sales</a:t>
            </a:r>
            <a:br/>
            <a:r>
              <a:t>into useful insights.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337560"/>
            <a:ext cx="86868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000" b="0">
                <a:solidFill>
                  <a:srgbClr val="AEBBC7"/>
                </a:solidFill>
                <a:latin typeface="Aptos"/>
              </a:defRPr>
            </a:pPr>
            <a:r>
              <a:t>EDA reveals patterns. Machine learning can estimate sales-success categories. Together, they demonstrate a practical use of data science.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3840480" cy="685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2900" b="1">
                <a:solidFill>
                  <a:srgbClr val="53CF8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326880" y="1920240"/>
            <a:ext cx="164592" cy="1828800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74352" y="2240280"/>
            <a:ext cx="164592" cy="1508760"/>
          </a:xfrm>
          <a:prstGeom prst="rect">
            <a:avLst/>
          </a:prstGeom>
          <a:solidFill>
            <a:srgbClr val="D1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21824" y="1920240"/>
            <a:ext cx="164592" cy="1828800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69296" y="2240280"/>
            <a:ext cx="164592" cy="1508760"/>
          </a:xfrm>
          <a:prstGeom prst="rect">
            <a:avLst/>
          </a:prstGeom>
          <a:solidFill>
            <a:srgbClr val="D1F5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716767" y="1920240"/>
            <a:ext cx="164592" cy="1828800"/>
          </a:xfrm>
          <a:prstGeom prst="rect">
            <a:avLst/>
          </a:prstGeom>
          <a:solidFill>
            <a:srgbClr val="53C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6473952"/>
            <a:ext cx="5486400" cy="182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900" b="1">
                <a:solidFill>
                  <a:srgbClr val="AEBBC7"/>
                </a:solidFill>
                <a:latin typeface="Aptos"/>
              </a:defRPr>
            </a:pPr>
            <a:r>
              <a:t>INTRODUCTION TO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